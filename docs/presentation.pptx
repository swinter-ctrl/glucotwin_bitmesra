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ec89a77-8b7a-3b96-400a-1fbb3ef98cbf}">
          <p14:sldIdLst>
            <p14:sldId id="256"/>
            <p14:sldId id="257"/>
            <p14:sldId id="258"/>
          </p14:sldIdLst>
        </p14:section>
        <p14:section name="How it works" id="{067984c8-9185-932b-7900-868e4be9dc71}">
          <p14:sldIdLst>
            <p14:sldId id="259"/>
            <p14:sldId id="260"/>
            <p14:sldId id="261"/>
          </p14:sldIdLst>
        </p14:section>
        <p14:section name="Results" id="{8913eaa0-8168-0f78-2d11-a187d93d8544}">
          <p14:sldIdLst>
            <p14:sldId id="262"/>
            <p14:sldId id="263"/>
          </p14:sldIdLst>
        </p14:section>
        <p14:section name="Digital twin in action" id="{58e3485d-bcaa-a892-1fe2-10bb63f49662}">
          <p14:sldIdLst>
            <p14:sldId id="264"/>
            <p14:sldId id="265"/>
            <p14:sldId id="266"/>
          </p14:sldIdLst>
        </p14:section>
        <p14:section name="Limitations and next steps" id="{a549f64d-1d3c-8829-575e-cc5322d72331}">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9"/>
                </a:solidFill>
                <a:latin typeface="+mn-lt"/>
              </a:defRPr>
            </a:pPr>
            <a:r>
              <a:rPr sz="1400" b="0" i="0" u="none" strike="noStrike">
                <a:solidFill>
                  <a:srgbClr val="0B3C49"/>
                </a:solidFill>
                <a:latin typeface="+mn-lt"/>
              </a:rPr>
              <a:t>Held-out patients (227k moments, 12.5% positive)</a:t>
            </a:r>
          </a:p>
        </c:rich>
      </c:tx>
      <c:layout/>
      <c:overlay val="0"/>
    </c:title>
    <c:autoTitleDeleted val="0"/>
    <c:plotArea>
      <c:layout/>
      <c:barChart>
        <c:barDir val="col"/>
        <c:grouping val="clustered"/>
        <c:varyColors val="0"/>
        <c:ser>
          <c:idx val="0"/>
          <c:order val="0"/>
          <c:tx>
            <c:strRef>
              <c:f>Sheet1!$B$1</c:f>
              <c:strCache>
                <c:ptCount val="1"/>
                <c:pt idx="0">
                  <c:v>LightGBM</c:v>
                </c:pt>
              </c:strCache>
            </c:strRef>
          </c:tx>
          <c:spPr>
            <a:solidFill>
              <a:srgbClr val="0E7C7B"/>
            </a:solidFill>
            <a:effectLst/>
          </c:spPr>
          <c:invertIfNegative val="0"/>
          <c:dLbls>
            <c:numFmt formatCode="0.00" sourceLinked="0"/>
            <c:txPr>
              <a:bodyPr/>
              <a:lstStyle/>
              <a:p>
                <a:pPr>
                  <a:defRPr b="0" i="0" strike="noStrike" sz="1400" u="none">
                    <a:solidFill>
                      <a:srgbClr val="1B2B34"/>
                    </a:solidFill>
                    <a:latin typeface="+mn-lt"/>
                  </a:defRPr>
                </a:pPr>
              </a:p>
            </c:txPr>
            <c:showLegendKey val="0"/>
            <c:showVal val="1"/>
            <c:showCatName val="0"/>
            <c:showSerName val="0"/>
            <c:showPercent val="0"/>
            <c:showBubbleSize val="0"/>
            <c:showLeaderLines val="0"/>
          </c:dLbls>
          <c:cat>
            <c:multiLvlStrRef>
              <c:f>Sheet1!$A$2:$A$3</c:f>
              <c:multiLvlStrCache>
                <c:ptCount val="2"/>
                <c:lvl>
                  <c:pt idx="0">
                    <c:v>AUROC</c:v>
                  </c:pt>
                  <c:pt idx="1">
                    <c:v>AUPRC</c:v>
                  </c:pt>
                </c:lvl>
              </c:multiLvlStrCache>
            </c:multiLvlStrRef>
          </c:cat>
          <c:val>
            <c:numRef>
              <c:f>Sheet1!$B$2:$B$3</c:f>
              <c:numCache>
                <c:formatCode>General</c:formatCode>
                <c:ptCount val="2"/>
                <c:pt idx="0">
                  <c:v>0.972</c:v>
                </c:pt>
                <c:pt idx="1">
                  <c:v>0.836</c:v>
                </c:pt>
              </c:numCache>
            </c:numRef>
          </c:val>
        </c:ser>
        <c:ser>
          <c:idx val="1"/>
          <c:order val="1"/>
          <c:tx>
            <c:strRef>
              <c:f>Sheet1!$C$1</c:f>
              <c:strCache>
                <c:ptCount val="1"/>
                <c:pt idx="0">
                  <c:v>Naive baseline</c:v>
                </c:pt>
              </c:strCache>
            </c:strRef>
          </c:tx>
          <c:spPr>
            <a:solidFill>
              <a:srgbClr val="B8C4C9"/>
            </a:solidFill>
            <a:effectLst/>
          </c:spPr>
          <c:invertIfNegative val="0"/>
          <c:dLbls>
            <c:numFmt formatCode="0.00" sourceLinked="0"/>
            <c:txPr>
              <a:bodyPr/>
              <a:lstStyle/>
              <a:p>
                <a:pPr>
                  <a:defRPr b="0" i="0" strike="noStrike" sz="1400" u="none">
                    <a:solidFill>
                      <a:srgbClr val="1B2B34"/>
                    </a:solidFill>
                    <a:latin typeface="+mn-lt"/>
                  </a:defRPr>
                </a:pPr>
              </a:p>
            </c:txPr>
            <c:showLegendKey val="0"/>
            <c:showVal val="1"/>
            <c:showCatName val="0"/>
            <c:showSerName val="0"/>
            <c:showPercent val="0"/>
            <c:showBubbleSize val="0"/>
            <c:showLeaderLines val="0"/>
          </c:dLbls>
          <c:cat>
            <c:multiLvlStrRef>
              <c:f>Sheet1!$A$2:$A$3</c:f>
              <c:multiLvlStrCache>
                <c:ptCount val="2"/>
                <c:lvl>
                  <c:pt idx="0">
                    <c:v>AUROC</c:v>
                  </c:pt>
                  <c:pt idx="1">
                    <c:v>AUPRC</c:v>
                  </c:pt>
                </c:lvl>
              </c:multiLvlStrCache>
            </c:multiLvlStrRef>
          </c:cat>
          <c:val>
            <c:numRef>
              <c:f>Sheet1!$C$2:$C$3</c:f>
              <c:numCache>
                <c:formatCode>General</c:formatCode>
                <c:ptCount val="2"/>
                <c:pt idx="0">
                  <c:v>0.554</c:v>
                </c:pt>
                <c:pt idx="1">
                  <c:v>0.162</c:v>
                </c:pt>
              </c:numCache>
            </c:numRef>
          </c:val>
        </c:ser>
        <c:dLbls>
          <c:numFmt formatCode="0.00" sourceLinked="0"/>
          <c:txPr>
            <a:bodyPr/>
            <a:lstStyle/>
            <a:p>
              <a:pPr>
                <a:defRPr b="0" i="0" strike="noStrike" sz="1400" u="none">
                  <a:solidFill>
                    <a:srgbClr val="1B2B3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1B2B34"/>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9EB"/>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B83"/>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1B2B3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GlucoTwin is a proof-of-concept digital twin of a type 2 diabetes patient. It fuses the health record with wearable streams, predicts a glucose spike two hours ahead, explains the prediction, and lets a doctor test what-if changes. Everything runs on synthetic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has over 100 million people with diabetes. Glucose swings with every meal, walk and short night of sleep, but the doctor sees a lab value every three months or a raw CGM trace. Neither predicts the next spike or says what would prevent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twin does three things. It predicts the probability of crossing 180 in the next two hours. It explains why in plain English using SHAP. And it simulates interventions: a smaller meal, a walk after eating, or better sleep.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runs left to right, then back along the bottom. Synthea gives synthetic health records. Our simulator generates two weeks of 5-minute wearable data per patient, seeded from that record. Features feed a LightGBM model with SHAP explanations. The twin re-runs the simulator with changed inputs. FastAPI serves it, and the Streamlit dashboard is what the doctor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patient's wearable data comes from a deterministic simulator seeded by their record. Baseline glucose comes from HbA1c with the standard eAG formula. Meals follow Indian carb-heavy patterns and their effect scales with insulin resistance. Walking lowers glucose, poor sleep raises next-day resistance, metformin blunts the 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5-minute moment for every patient is a training example, labelled by whether glucose crosses 180 in the next two hours. We split by patient so the model is always tested on people it has never seen, and we evaluate only on moments where glucose is still below 180.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sixty patients the model never saw, AUROC is 0.97 versus 0.55 for the naive glucose-threshold rule, and AUPRC is 0.84 versus 0.16. At an alert threshold chosen for 80% precision, 95% of spike events get an alert first, with a median of 95 minutes of warning. These numbers are on synthetic data, which I'll come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shows why each prediction was made. The directions make sense: carbs, HbA1c and BMI push risk up, recent walking and good sleep push it down. On the dashboard we group these into three plain-English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twin in action. Our demo patient slept badly and ate a 105-gram lunch; risk is 98%. The twin re-simulates the next two hours: a 20-minute walk cuts the spike probability to 36%, a 60-gram lunch to zero, and both together keep her peak at 137. Across all patients, a post-meal walk lowers the peak by 24 mg/dL on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dashboard chart for the same patient. The blue line is observed CGM, the dotted line is what the twin expects if nothing changes, and the green line is the what-if with a walk and a smaller lunch. The lower panel shows predicted risk rising after lunch.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the care team opens the dashboard, sees patients ranked by risk, checks why a patient is flagged, tests changes on the twin, and shows the patient which change helps them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clear about limits. The model partly learns our own simulator, so these metrics are not real-world performance. Time of day is an over-strong signal. Synthea is a US population with a narrow HbA1c range. And the what-ifs are single levers. All data is synthetic, and this is not a medical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want to validate on real CGM data, give each patient their own meal schedule, enrich the simulator, add the security a real deployment needs, and pilot the dashboard with clinicians.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1091672" cy="1188720"/>
          </a:xfrm>
          <a:prstGeom prst="rect">
            <a:avLst/>
          </a:prstGeom>
          <a:noFill/>
          <a:ln/>
        </p:spPr>
        <p:txBody>
          <a:bodyPr wrap="square" rtlCol="0"/>
          <a:lstStyle>
            <a:lvl1pPr algn="l" indent="0" marL="0">
              <a:buNone/>
              <a:defRPr lang="en-US" sz="6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6000" dirty="0"/>
          </a:p>
        </p:txBody>
      </p:sp>
      <p:sp>
        <p:nvSpPr>
          <p:cNvPr id="3" name="Text 0"/>
          <p:cNvSpPr/>
          <p:nvPr>
            <p:ph idx="101" type="body" hasCustomPrompt="1"/>
          </p:nvPr>
        </p:nvSpPr>
        <p:spPr>
          <a:xfrm>
            <a:off x="548640" y="3154680"/>
            <a:ext cx="8686800" cy="109728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lstStyle>
            <a:lvl1pPr algn="l" indent="0" marL="0">
              <a:buNone/>
              <a:defRPr lang="en-US" sz="36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nvSpPr>
        <p:spPr>
          <a:xfrm>
            <a:off x="548640" y="6355080"/>
            <a:ext cx="9144000" cy="320040"/>
          </a:xfrm>
          <a:prstGeom prst="rect">
            <a:avLst/>
          </a:prstGeom>
          <a:noFill/>
          <a:ln/>
        </p:spPr>
        <p:txBody>
          <a:bodyPr wrap="square" lIns="0" tIns="0" rIns="0" bIns="0" rtlCol="0" anchor="ctr"/>
          <a:lstStyle/>
          <a:p>
            <a:pPr indent="0" marL="0">
              <a:buNone/>
            </a:pPr>
            <a:r>
              <a:rPr lang="en-US" sz="1000" dirty="0">
                <a:solidFill>
                  <a:schemeClr val="accent5"/>
                </a:solidFill>
              </a:rPr>
              <a:t>GlucoTwin · BIT Mesra · all data synthetic · research prototype, not a medical device</a:t>
            </a:r>
            <a:endParaRPr lang="en-US" sz="1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swinter-ctrl/GlucoTwin_BITMesra" TargetMode="Externa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1091672" cy="1188720"/>
          </a:xfrm>
          <a:prstGeom prst="rect">
            <a:avLst/>
          </a:prstGeom>
          <a:noFill/>
          <a:ln/>
        </p:spPr>
        <p:txBody>
          <a:bodyPr wrap="square" lIns="0" tIns="0" rIns="0" bIns="0" rtlCol="0" anchor="b"/>
          <a:lstStyle/>
          <a:p>
            <a:pPr algn="l" indent="0" marL="0">
              <a:buNone/>
            </a:pPr>
            <a:r>
              <a:rPr lang="en-US" sz="6000" b="1" dirty="0">
                <a:solidFill>
                  <a:schemeClr val="bg1"/>
                </a:solidFill>
                <a:latin typeface="Cambria" pitchFamily="34" charset="0"/>
                <a:ea typeface="Cambria" pitchFamily="34" charset="-122"/>
                <a:cs typeface="Cambria" pitchFamily="34" charset="-120"/>
              </a:rPr>
              <a:t>GlucoTwin</a:t>
            </a:r>
            <a:endParaRPr lang="en-US" sz="6000" dirty="0"/>
          </a:p>
        </p:txBody>
      </p:sp>
      <p:sp>
        <p:nvSpPr>
          <p:cNvPr id="3" name="Text 0"/>
          <p:cNvSpPr/>
          <p:nvPr>
            <p:ph idx="101" type="body" hasCustomPrompt="1"/>
          </p:nvPr>
        </p:nvSpPr>
        <p:spPr>
          <a:xfrm>
            <a:off x="548640" y="3154680"/>
            <a:ext cx="8686800" cy="1097280"/>
          </a:xfrm>
          <a:prstGeom prst="rect">
            <a:avLst/>
          </a:prstGeom>
          <a:noFill/>
          <a:ln/>
        </p:spPr>
        <p:txBody>
          <a:bodyPr wrap="square" lIns="0" tIns="0" rIns="0" bIns="0" rtlCol="0" anchor="t"/>
          <a:lstStyle/>
          <a:p>
            <a:pPr indent="0" marL="0">
              <a:buNone/>
            </a:pPr>
            <a:r>
              <a:rPr lang="en-US" sz="2200" dirty="0">
                <a:solidFill>
                  <a:schemeClr val="bg2"/>
                </a:solidFill>
              </a:rPr>
              <a:t>A digital twin for Type 2 Diabetes that predicts glucose spikes 2 hours ahead, explains why, and simulates what would prevent them</a:t>
            </a:r>
            <a:endParaRPr lang="en-US" sz="2200" dirty="0"/>
          </a:p>
        </p:txBody>
      </p:sp>
      <p:sp>
        <p:nvSpPr>
          <p:cNvPr id="4" name="Text 2"/>
          <p:cNvSpPr txBox="1"/>
          <p:nvPr/>
        </p:nvSpPr>
        <p:spPr>
          <a:xfrm>
            <a:off x="548640" y="4754880"/>
            <a:ext cx="7315200" cy="100584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Team GlucoTwin  ·  Utkarsh Pal, Ayush Choubey</a:t>
            </a:r>
            <a:endParaRPr lang="en-US" sz="1600" dirty="0"/>
          </a:p>
          <a:p>
            <a:pPr indent="0" marL="0">
              <a:spcAft>
                <a:spcPts val="400"/>
              </a:spcAft>
              <a:buNone/>
            </a:pPr>
            <a:r>
              <a:rPr lang="en-US" sz="1600" dirty="0">
                <a:solidFill>
                  <a:schemeClr val="bg1"/>
                </a:solidFill>
              </a:rPr>
              <a:t>Birla Institute of Technology (BIT), Mesra</a:t>
            </a:r>
            <a:endParaRPr lang="en-US" sz="1600" dirty="0"/>
          </a:p>
          <a:p>
            <a:pPr indent="0" marL="0">
              <a:spcAft>
                <a:spcPts val="400"/>
              </a:spcAft>
              <a:buNone/>
            </a:pPr>
            <a:r>
              <a:rPr lang="en-US" sz="1600" dirty="0">
                <a:solidFill>
                  <a:schemeClr val="bg1"/>
                </a:solidFill>
              </a:rPr>
              <a:t>Happiest Health Digital Twin Challenge 2026</a:t>
            </a:r>
            <a:endParaRPr lang="en-US" sz="1600" dirty="0"/>
          </a:p>
        </p:txBody>
      </p:sp>
      <p:sp>
        <p:nvSpPr>
          <p:cNvPr id="5" name="Text 3"/>
          <p:cNvSpPr txBox="1"/>
          <p:nvPr/>
        </p:nvSpPr>
        <p:spPr>
          <a:xfrm>
            <a:off x="548640" y="6172200"/>
            <a:ext cx="7315200" cy="320040"/>
          </a:xfrm>
          <a:prstGeom prst="rect">
            <a:avLst/>
          </a:prstGeom>
          <a:noFill/>
          <a:ln/>
        </p:spPr>
        <p:txBody>
          <a:bodyPr wrap="square" lIns="0" tIns="0" rIns="0" bIns="0" rtlCol="0" anchor="t"/>
          <a:lstStyle/>
          <a:p>
            <a:pPr indent="0" marL="0">
              <a:buNone/>
            </a:pPr>
            <a:r>
              <a:rPr lang="en-US" sz="1200" dirty="0">
                <a:solidFill>
                  <a:schemeClr val="accent3"/>
                </a:solidFill>
              </a:rPr>
              <a:t>All data synthetic · research prototype, not a medical device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Between clinic visits, nobody sees the spike coming</a:t>
            </a:r>
            <a:endParaRPr lang="en-US" sz="3600" dirty="0"/>
          </a:p>
        </p:txBody>
      </p:sp>
      <p:sp>
        <p:nvSpPr>
          <p:cNvPr id="3" name="Text 1"/>
          <p:cNvSpPr txBox="1"/>
          <p:nvPr/>
        </p:nvSpPr>
        <p:spPr>
          <a:xfrm>
            <a:off x="548640" y="1463040"/>
            <a:ext cx="3291840" cy="868680"/>
          </a:xfrm>
          <a:prstGeom prst="rect">
            <a:avLst/>
          </a:prstGeom>
          <a:noFill/>
          <a:ln/>
        </p:spPr>
        <p:txBody>
          <a:bodyPr wrap="square" lIns="0" tIns="0" rIns="0" bIns="0" rtlCol="0" anchor="b"/>
          <a:lstStyle/>
          <a:p>
            <a:pPr indent="0" marL="0">
              <a:buNone/>
            </a:pPr>
            <a:r>
              <a:rPr lang="en-US" sz="5400" b="1" dirty="0">
                <a:solidFill>
                  <a:schemeClr val="accent2"/>
                </a:solidFill>
                <a:latin typeface="Cambria" pitchFamily="34" charset="0"/>
                <a:ea typeface="Cambria" pitchFamily="34" charset="-122"/>
                <a:cs typeface="Cambria" pitchFamily="34" charset="-120"/>
              </a:rPr>
              <a:t>100M+</a:t>
            </a:r>
            <a:endParaRPr lang="en-US" sz="5400" dirty="0"/>
          </a:p>
        </p:txBody>
      </p:sp>
      <p:sp>
        <p:nvSpPr>
          <p:cNvPr id="4" name="Text 2"/>
          <p:cNvSpPr txBox="1"/>
          <p:nvPr/>
        </p:nvSpPr>
        <p:spPr>
          <a:xfrm>
            <a:off x="548640" y="2377440"/>
            <a:ext cx="3291840" cy="685800"/>
          </a:xfrm>
          <a:prstGeom prst="rect">
            <a:avLst/>
          </a:prstGeom>
          <a:noFill/>
          <a:ln/>
        </p:spPr>
        <p:txBody>
          <a:bodyPr wrap="square" lIns="0" tIns="0" rIns="0" bIns="0" rtlCol="0" anchor="t"/>
          <a:lstStyle/>
          <a:p>
            <a:pPr indent="0" marL="0">
              <a:buNone/>
            </a:pPr>
            <a:r>
              <a:rPr lang="en-US" sz="1500" dirty="0">
                <a:solidFill>
                  <a:schemeClr val="tx1"/>
                </a:solidFill>
              </a:rPr>
              <a:t>people in India live with diabetes, most with type 2</a:t>
            </a:r>
            <a:endParaRPr lang="en-US" sz="1500" dirty="0"/>
          </a:p>
        </p:txBody>
      </p:sp>
      <p:sp>
        <p:nvSpPr>
          <p:cNvPr id="5" name="Text 3"/>
          <p:cNvSpPr txBox="1"/>
          <p:nvPr/>
        </p:nvSpPr>
        <p:spPr>
          <a:xfrm>
            <a:off x="4206240" y="1463040"/>
            <a:ext cx="3291840" cy="868680"/>
          </a:xfrm>
          <a:prstGeom prst="rect">
            <a:avLst/>
          </a:prstGeom>
          <a:noFill/>
          <a:ln/>
        </p:spPr>
        <p:txBody>
          <a:bodyPr wrap="square" lIns="0" tIns="0" rIns="0" bIns="0" rtlCol="0" anchor="b"/>
          <a:lstStyle/>
          <a:p>
            <a:pPr indent="0" marL="0">
              <a:buNone/>
            </a:pPr>
            <a:r>
              <a:rPr lang="en-US" sz="5400" b="1" dirty="0">
                <a:solidFill>
                  <a:schemeClr val="accent1"/>
                </a:solidFill>
                <a:latin typeface="Cambria" pitchFamily="34" charset="0"/>
                <a:ea typeface="Cambria" pitchFamily="34" charset="-122"/>
                <a:cs typeface="Cambria" pitchFamily="34" charset="-120"/>
              </a:rPr>
              <a:t>90 days</a:t>
            </a:r>
            <a:endParaRPr lang="en-US" sz="5400" dirty="0"/>
          </a:p>
        </p:txBody>
      </p:sp>
      <p:sp>
        <p:nvSpPr>
          <p:cNvPr id="6" name="Text 4"/>
          <p:cNvSpPr txBox="1"/>
          <p:nvPr/>
        </p:nvSpPr>
        <p:spPr>
          <a:xfrm>
            <a:off x="4206240" y="2377440"/>
            <a:ext cx="3291840" cy="685800"/>
          </a:xfrm>
          <a:prstGeom prst="rect">
            <a:avLst/>
          </a:prstGeom>
          <a:noFill/>
          <a:ln/>
        </p:spPr>
        <p:txBody>
          <a:bodyPr wrap="square" lIns="0" tIns="0" rIns="0" bIns="0" rtlCol="0" anchor="t"/>
          <a:lstStyle/>
          <a:p>
            <a:pPr indent="0" marL="0">
              <a:buNone/>
            </a:pPr>
            <a:r>
              <a:rPr lang="en-US" sz="1500" dirty="0">
                <a:solidFill>
                  <a:schemeClr val="tx1"/>
                </a:solidFill>
              </a:rPr>
              <a:t>between HbA1c tests: one number for a whole quarter</a:t>
            </a:r>
            <a:endParaRPr lang="en-US" sz="1500" dirty="0"/>
          </a:p>
        </p:txBody>
      </p:sp>
      <p:sp>
        <p:nvSpPr>
          <p:cNvPr id="7" name="Text 5"/>
          <p:cNvSpPr txBox="1"/>
          <p:nvPr/>
        </p:nvSpPr>
        <p:spPr>
          <a:xfrm>
            <a:off x="7863840" y="1463040"/>
            <a:ext cx="3291840" cy="868680"/>
          </a:xfrm>
          <a:prstGeom prst="rect">
            <a:avLst/>
          </a:prstGeom>
          <a:noFill/>
          <a:ln/>
        </p:spPr>
        <p:txBody>
          <a:bodyPr wrap="square" lIns="0" tIns="0" rIns="0" bIns="0" rtlCol="0" anchor="b"/>
          <a:lstStyle/>
          <a:p>
            <a:pPr indent="0" marL="0">
              <a:buNone/>
            </a:pPr>
            <a:r>
              <a:rPr lang="en-US" sz="5400" b="1" dirty="0">
                <a:solidFill>
                  <a:schemeClr val="accent4"/>
                </a:solidFill>
                <a:latin typeface="Cambria" pitchFamily="34" charset="0"/>
                <a:ea typeface="Cambria" pitchFamily="34" charset="-122"/>
                <a:cs typeface="Cambria" pitchFamily="34" charset="-120"/>
              </a:rPr>
              <a:t>288</a:t>
            </a:r>
            <a:endParaRPr lang="en-US" sz="5400" dirty="0"/>
          </a:p>
        </p:txBody>
      </p:sp>
      <p:sp>
        <p:nvSpPr>
          <p:cNvPr id="8" name="Text 6"/>
          <p:cNvSpPr txBox="1"/>
          <p:nvPr/>
        </p:nvSpPr>
        <p:spPr>
          <a:xfrm>
            <a:off x="7863840" y="2377440"/>
            <a:ext cx="3291840" cy="685800"/>
          </a:xfrm>
          <a:prstGeom prst="rect">
            <a:avLst/>
          </a:prstGeom>
          <a:noFill/>
          <a:ln/>
        </p:spPr>
        <p:txBody>
          <a:bodyPr wrap="square" lIns="0" tIns="0" rIns="0" bIns="0" rtlCol="0" anchor="t"/>
          <a:lstStyle/>
          <a:p>
            <a:pPr indent="0" marL="0">
              <a:buNone/>
            </a:pPr>
            <a:r>
              <a:rPr lang="en-US" sz="1500" dirty="0">
                <a:solidFill>
                  <a:schemeClr val="tx1"/>
                </a:solidFill>
              </a:rPr>
              <a:t>CGM readings a day that sit apart from the health record</a:t>
            </a:r>
            <a:endParaRPr lang="en-US" sz="1500" dirty="0"/>
          </a:p>
        </p:txBody>
      </p:sp>
      <p:sp>
        <p:nvSpPr>
          <p:cNvPr id="9" name="problem summary"/>
          <p:cNvSpPr/>
          <p:nvPr/>
        </p:nvSpPr>
        <p:spPr>
          <a:xfrm>
            <a:off x="548640" y="3749040"/>
            <a:ext cx="11091672" cy="1920240"/>
          </a:xfrm>
          <a:prstGeom prst="roundRect">
            <a:avLst>
              <a:gd name="adj" fmla="val 5714"/>
            </a:avLst>
          </a:prstGeom>
          <a:solidFill>
            <a:schemeClr val="bg2"/>
          </a:solidFill>
          <a:ln/>
        </p:spPr>
      </p:sp>
      <p:sp>
        <p:nvSpPr>
          <p:cNvPr id="10" name="Text 8"/>
          <p:cNvSpPr txBox="1"/>
          <p:nvPr/>
        </p:nvSpPr>
        <p:spPr>
          <a:xfrm>
            <a:off x="914400" y="3977640"/>
            <a:ext cx="10360152" cy="1828800"/>
          </a:xfrm>
          <a:prstGeom prst="rect">
            <a:avLst/>
          </a:prstGeom>
          <a:noFill/>
          <a:ln/>
        </p:spPr>
        <p:txBody>
          <a:bodyPr wrap="square" lIns="0" tIns="0" rIns="0" bIns="0" rtlCol="0" anchor="t"/>
          <a:lstStyle/>
          <a:p>
            <a:pPr indent="0" marL="0">
              <a:spcAft>
                <a:spcPts val="800"/>
              </a:spcAft>
              <a:buNone/>
            </a:pPr>
            <a:r>
              <a:rPr lang="en-US" sz="2000" b="1" dirty="0">
                <a:solidFill>
                  <a:schemeClr val="tx2"/>
                </a:solidFill>
              </a:rPr>
              <a:t>The data exists, but it is split in two</a:t>
            </a:r>
            <a:endParaRPr lang="en-US" sz="1700" dirty="0"/>
          </a:p>
          <a:p>
            <a:pPr indent="0" marL="0">
              <a:spcAft>
                <a:spcPts val="800"/>
              </a:spcAft>
              <a:buNone/>
            </a:pPr>
            <a:r>
              <a:rPr lang="en-US" sz="1700" dirty="0">
                <a:solidFill>
                  <a:schemeClr val="tx1"/>
                </a:solidFill>
              </a:rPr>
              <a:t>The EHR explains who the patient is. Wearables show what their glucose is doing. Clinicians get either a lab value every three months or a raw CGM trace.</a:t>
            </a:r>
            <a:endParaRPr lang="en-US" sz="1700" dirty="0"/>
          </a:p>
          <a:p>
            <a:pPr indent="0" marL="0">
              <a:buNone/>
            </a:pPr>
            <a:r>
              <a:rPr lang="en-US" sz="1700" b="1" dirty="0">
                <a:solidFill>
                  <a:schemeClr val="accent2"/>
                </a:solidFill>
              </a:rPr>
              <a:t>Neither tells them what is about to happen, or what would change it.</a:t>
            </a:r>
            <a:endParaRPr lang="en-US" sz="17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One twin per patient: predict, explain, simulate</a:t>
            </a:r>
            <a:endParaRPr lang="en-US" sz="3600" dirty="0"/>
          </a:p>
        </p:txBody>
      </p:sp>
      <p:sp>
        <p:nvSpPr>
          <p:cNvPr id="3" name="pillar Predict"/>
          <p:cNvSpPr/>
          <p:nvPr/>
        </p:nvSpPr>
        <p:spPr>
          <a:xfrm>
            <a:off x="548640" y="1417320"/>
            <a:ext cx="3520440" cy="2880360"/>
          </a:xfrm>
          <a:prstGeom prst="roundRect">
            <a:avLst>
              <a:gd name="adj" fmla="val 3810"/>
            </a:avLst>
          </a:prstGeom>
          <a:solidFill>
            <a:schemeClr val="bg2"/>
          </a:solidFill>
          <a:ln/>
        </p:spPr>
      </p:sp>
      <p:sp>
        <p:nvSpPr>
          <p:cNvPr id="4" name="badge 1"/>
          <p:cNvSpPr/>
          <p:nvPr/>
        </p:nvSpPr>
        <p:spPr>
          <a:xfrm>
            <a:off x="868680" y="1691640"/>
            <a:ext cx="640080" cy="640080"/>
          </a:xfrm>
          <a:prstGeom prst="ellipse">
            <a:avLst/>
          </a:prstGeom>
          <a:solidFill>
            <a:schemeClr val="accent2"/>
          </a:solidFill>
          <a:ln/>
        </p:spPr>
      </p:sp>
      <p:sp>
        <p:nvSpPr>
          <p:cNvPr id="5" name="Text 3"/>
          <p:cNvSpPr txBox="1"/>
          <p:nvPr/>
        </p:nvSpPr>
        <p:spPr>
          <a:xfrm>
            <a:off x="868680" y="169164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6" name="Text 4"/>
          <p:cNvSpPr txBox="1"/>
          <p:nvPr/>
        </p:nvSpPr>
        <p:spPr>
          <a:xfrm>
            <a:off x="868680" y="2514600"/>
            <a:ext cx="2926080" cy="50292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Predict</a:t>
            </a:r>
            <a:endParaRPr lang="en-US" sz="2400" dirty="0"/>
          </a:p>
        </p:txBody>
      </p:sp>
      <p:sp>
        <p:nvSpPr>
          <p:cNvPr id="7" name="Text 5"/>
          <p:cNvSpPr txBox="1"/>
          <p:nvPr/>
        </p:nvSpPr>
        <p:spPr>
          <a:xfrm>
            <a:off x="868680" y="3063240"/>
            <a:ext cx="2926080" cy="1554480"/>
          </a:xfrm>
          <a:prstGeom prst="rect">
            <a:avLst/>
          </a:prstGeom>
          <a:noFill/>
          <a:ln/>
        </p:spPr>
        <p:txBody>
          <a:bodyPr wrap="square" lIns="0" tIns="0" rIns="0" bIns="0" rtlCol="0" anchor="t"/>
          <a:lstStyle/>
          <a:p>
            <a:pPr indent="0" marL="0">
              <a:buNone/>
            </a:pPr>
            <a:r>
              <a:rPr lang="en-US" sz="1600" dirty="0">
                <a:solidFill>
                  <a:schemeClr val="tx1"/>
                </a:solidFill>
              </a:rPr>
              <a:t>Probability that glucose will exceed 180 mg/dL in the next 2 hours, updated every 5 minutes</a:t>
            </a:r>
            <a:endParaRPr lang="en-US" sz="1600" dirty="0"/>
          </a:p>
        </p:txBody>
      </p:sp>
      <p:sp>
        <p:nvSpPr>
          <p:cNvPr id="8" name="pillar Explain"/>
          <p:cNvSpPr/>
          <p:nvPr/>
        </p:nvSpPr>
        <p:spPr>
          <a:xfrm>
            <a:off x="4334256" y="1417320"/>
            <a:ext cx="3520440" cy="2880360"/>
          </a:xfrm>
          <a:prstGeom prst="roundRect">
            <a:avLst>
              <a:gd name="adj" fmla="val 3810"/>
            </a:avLst>
          </a:prstGeom>
          <a:solidFill>
            <a:schemeClr val="bg2"/>
          </a:solidFill>
          <a:ln/>
        </p:spPr>
      </p:sp>
      <p:sp>
        <p:nvSpPr>
          <p:cNvPr id="9" name="badge 2"/>
          <p:cNvSpPr/>
          <p:nvPr/>
        </p:nvSpPr>
        <p:spPr>
          <a:xfrm>
            <a:off x="4654296" y="1691640"/>
            <a:ext cx="640080" cy="640080"/>
          </a:xfrm>
          <a:prstGeom prst="ellipse">
            <a:avLst/>
          </a:prstGeom>
          <a:solidFill>
            <a:schemeClr val="accent1"/>
          </a:solidFill>
          <a:ln/>
        </p:spPr>
      </p:sp>
      <p:sp>
        <p:nvSpPr>
          <p:cNvPr id="10" name="Text 8"/>
          <p:cNvSpPr txBox="1"/>
          <p:nvPr/>
        </p:nvSpPr>
        <p:spPr>
          <a:xfrm>
            <a:off x="4654296" y="169164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1" name="Text 9"/>
          <p:cNvSpPr txBox="1"/>
          <p:nvPr/>
        </p:nvSpPr>
        <p:spPr>
          <a:xfrm>
            <a:off x="4654296" y="2514600"/>
            <a:ext cx="2926080" cy="50292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Explain</a:t>
            </a:r>
            <a:endParaRPr lang="en-US" sz="2400" dirty="0"/>
          </a:p>
        </p:txBody>
      </p:sp>
      <p:sp>
        <p:nvSpPr>
          <p:cNvPr id="12" name="Text 10"/>
          <p:cNvSpPr txBox="1"/>
          <p:nvPr/>
        </p:nvSpPr>
        <p:spPr>
          <a:xfrm>
            <a:off x="4654296" y="3063240"/>
            <a:ext cx="2926080" cy="1554480"/>
          </a:xfrm>
          <a:prstGeom prst="rect">
            <a:avLst/>
          </a:prstGeom>
          <a:noFill/>
          <a:ln/>
        </p:spPr>
        <p:txBody>
          <a:bodyPr wrap="square" lIns="0" tIns="0" rIns="0" bIns="0" rtlCol="0" anchor="t"/>
          <a:lstStyle/>
          <a:p>
            <a:pPr indent="0" marL="0">
              <a:buNone/>
            </a:pPr>
            <a:r>
              <a:rPr lang="en-US" sz="1600" dirty="0">
                <a:solidFill>
                  <a:schemeClr val="tx1"/>
                </a:solidFill>
              </a:rPr>
              <a:t>Top 3 reasons in plain English from SHAP, e.g. "Ate 105 g carbs, 10 min ago — raises risk"</a:t>
            </a:r>
            <a:endParaRPr lang="en-US" sz="1600" dirty="0"/>
          </a:p>
        </p:txBody>
      </p:sp>
      <p:sp>
        <p:nvSpPr>
          <p:cNvPr id="13" name="pillar Simulate"/>
          <p:cNvSpPr/>
          <p:nvPr/>
        </p:nvSpPr>
        <p:spPr>
          <a:xfrm>
            <a:off x="8119872" y="1417320"/>
            <a:ext cx="3520440" cy="2880360"/>
          </a:xfrm>
          <a:prstGeom prst="roundRect">
            <a:avLst>
              <a:gd name="adj" fmla="val 3810"/>
            </a:avLst>
          </a:prstGeom>
          <a:solidFill>
            <a:schemeClr val="bg2"/>
          </a:solidFill>
          <a:ln/>
        </p:spPr>
      </p:sp>
      <p:sp>
        <p:nvSpPr>
          <p:cNvPr id="14" name="badge 3"/>
          <p:cNvSpPr/>
          <p:nvPr/>
        </p:nvSpPr>
        <p:spPr>
          <a:xfrm>
            <a:off x="8439912" y="1691640"/>
            <a:ext cx="640080" cy="640080"/>
          </a:xfrm>
          <a:prstGeom prst="ellipse">
            <a:avLst/>
          </a:prstGeom>
          <a:solidFill>
            <a:schemeClr val="accent6"/>
          </a:solidFill>
          <a:ln/>
        </p:spPr>
      </p:sp>
      <p:sp>
        <p:nvSpPr>
          <p:cNvPr id="15" name="Text 13"/>
          <p:cNvSpPr txBox="1"/>
          <p:nvPr/>
        </p:nvSpPr>
        <p:spPr>
          <a:xfrm>
            <a:off x="8439912" y="169164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6" name="Text 14"/>
          <p:cNvSpPr txBox="1"/>
          <p:nvPr/>
        </p:nvSpPr>
        <p:spPr>
          <a:xfrm>
            <a:off x="8439912" y="2514600"/>
            <a:ext cx="2926080" cy="50292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Simulate</a:t>
            </a:r>
            <a:endParaRPr lang="en-US" sz="2400" dirty="0"/>
          </a:p>
        </p:txBody>
      </p:sp>
      <p:sp>
        <p:nvSpPr>
          <p:cNvPr id="17" name="Text 15"/>
          <p:cNvSpPr txBox="1"/>
          <p:nvPr/>
        </p:nvSpPr>
        <p:spPr>
          <a:xfrm>
            <a:off x="8439912" y="3063240"/>
            <a:ext cx="2926080" cy="1554480"/>
          </a:xfrm>
          <a:prstGeom prst="rect">
            <a:avLst/>
          </a:prstGeom>
          <a:noFill/>
          <a:ln/>
        </p:spPr>
        <p:txBody>
          <a:bodyPr wrap="square" lIns="0" tIns="0" rIns="0" bIns="0" rtlCol="0" anchor="t"/>
          <a:lstStyle/>
          <a:p>
            <a:pPr indent="0" marL="0">
              <a:buNone/>
            </a:pPr>
            <a:r>
              <a:rPr lang="en-US" sz="1600" dirty="0">
                <a:solidFill>
                  <a:schemeClr val="tx1"/>
                </a:solidFill>
              </a:rPr>
              <a:t>What-if: a smaller meal, a 20-minute post-meal walk or a better night's sleep, as a new glucose curve and risk</a:t>
            </a:r>
            <a:endParaRPr lang="en-US" sz="1600" dirty="0"/>
          </a:p>
        </p:txBody>
      </p:sp>
      <p:sp>
        <p:nvSpPr>
          <p:cNvPr id="18" name="Text 16"/>
          <p:cNvSpPr txBox="1"/>
          <p:nvPr/>
        </p:nvSpPr>
        <p:spPr>
          <a:xfrm>
            <a:off x="548640" y="4663440"/>
            <a:ext cx="11091672" cy="822960"/>
          </a:xfrm>
          <a:prstGeom prst="rect">
            <a:avLst/>
          </a:prstGeom>
          <a:noFill/>
          <a:ln/>
        </p:spPr>
        <p:txBody>
          <a:bodyPr wrap="square" lIns="0" tIns="0" rIns="0" bIns="0" rtlCol="0" anchor="t"/>
          <a:lstStyle/>
          <a:p>
            <a:pPr indent="0" marL="0">
              <a:buNone/>
            </a:pPr>
            <a:r>
              <a:rPr lang="en-US" sz="1600" b="1" dirty="0">
                <a:solidFill>
                  <a:schemeClr val="tx2"/>
                </a:solidFill>
              </a:rPr>
              <a:t>Inputs fused per patient:  </a:t>
            </a:r>
            <a:pPr indent="0" marL="0">
              <a:buNone/>
            </a:pPr>
            <a:r>
              <a:rPr lang="en-US" sz="1600" dirty="0">
                <a:solidFill>
                  <a:schemeClr val="tx1"/>
                </a:solidFill>
              </a:rPr>
              <a:t>static EHR (age, sex, BMI, HbA1c, diagnoses, metformin, lipids)  +  dynamic wearables (CGM every 5 min, steps, heart rate, sleep, meals)</a:t>
            </a:r>
            <a:endParaRPr lang="en-US" sz="16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From synthetic records to a doctor's dashboard</a:t>
            </a:r>
            <a:endParaRPr lang="en-US" sz="3600" dirty="0"/>
          </a:p>
        </p:txBody>
      </p:sp>
      <p:sp>
        <p:nvSpPr>
          <p:cNvPr id="3" name="node Synthea EHR"/>
          <p:cNvSpPr/>
          <p:nvPr/>
        </p:nvSpPr>
        <p:spPr>
          <a:xfrm>
            <a:off x="548640" y="1417320"/>
            <a:ext cx="2395728" cy="1371600"/>
          </a:xfrm>
          <a:prstGeom prst="roundRect">
            <a:avLst>
              <a:gd name="adj" fmla="val 8000"/>
            </a:avLst>
          </a:prstGeom>
          <a:solidFill>
            <a:schemeClr val="bg2"/>
          </a:solidFill>
          <a:ln/>
        </p:spPr>
      </p:sp>
      <p:sp>
        <p:nvSpPr>
          <p:cNvPr id="4" name="Text 2"/>
          <p:cNvSpPr txBox="1"/>
          <p:nvPr/>
        </p:nvSpPr>
        <p:spPr>
          <a:xfrm>
            <a:off x="731520" y="1581912"/>
            <a:ext cx="2029968" cy="365760"/>
          </a:xfrm>
          <a:prstGeom prst="rect">
            <a:avLst/>
          </a:prstGeom>
          <a:noFill/>
          <a:ln/>
        </p:spPr>
        <p:txBody>
          <a:bodyPr wrap="square" lIns="0" tIns="0" rIns="0" bIns="0" rtlCol="0" anchor="t"/>
          <a:lstStyle/>
          <a:p>
            <a:pPr indent="0" marL="0">
              <a:buNone/>
            </a:pPr>
            <a:r>
              <a:rPr lang="en-US" sz="1700" b="1" dirty="0">
                <a:solidFill>
                  <a:schemeClr val="accent1"/>
                </a:solidFill>
              </a:rPr>
              <a:t>Synthea EHR</a:t>
            </a:r>
            <a:endParaRPr lang="en-US" sz="1700" dirty="0"/>
          </a:p>
        </p:txBody>
      </p:sp>
      <p:sp>
        <p:nvSpPr>
          <p:cNvPr id="5" name="Text 3"/>
          <p:cNvSpPr txBox="1"/>
          <p:nvPr/>
        </p:nvSpPr>
        <p:spPr>
          <a:xfrm>
            <a:off x="731520" y="1984248"/>
            <a:ext cx="2029968" cy="685800"/>
          </a:xfrm>
          <a:prstGeom prst="rect">
            <a:avLst/>
          </a:prstGeom>
          <a:noFill/>
          <a:ln/>
        </p:spPr>
        <p:txBody>
          <a:bodyPr wrap="square" lIns="0" tIns="0" rIns="0" bIns="0" rtlCol="0" anchor="t"/>
          <a:lstStyle/>
          <a:p>
            <a:pPr indent="0" marL="0">
              <a:buNone/>
            </a:pPr>
            <a:r>
              <a:rPr lang="en-US" sz="1300" dirty="0">
                <a:solidFill>
                  <a:schemeClr val="tx1"/>
                </a:solidFill>
              </a:rPr>
              <a:t>1,171 synthetic patients, CSV</a:t>
            </a:r>
            <a:endParaRPr lang="en-US" sz="1300" dirty="0"/>
          </a:p>
        </p:txBody>
      </p:sp>
      <p:sp>
        <p:nvSpPr>
          <p:cNvPr id="6" name="node src/ehr"/>
          <p:cNvSpPr/>
          <p:nvPr/>
        </p:nvSpPr>
        <p:spPr>
          <a:xfrm>
            <a:off x="3447288" y="1417320"/>
            <a:ext cx="2395728" cy="1371600"/>
          </a:xfrm>
          <a:prstGeom prst="roundRect">
            <a:avLst>
              <a:gd name="adj" fmla="val 8000"/>
            </a:avLst>
          </a:prstGeom>
          <a:solidFill>
            <a:schemeClr val="bg2"/>
          </a:solidFill>
          <a:ln/>
        </p:spPr>
      </p:sp>
      <p:sp>
        <p:nvSpPr>
          <p:cNvPr id="7" name="Text 5"/>
          <p:cNvSpPr txBox="1"/>
          <p:nvPr/>
        </p:nvSpPr>
        <p:spPr>
          <a:xfrm>
            <a:off x="3630168" y="1581912"/>
            <a:ext cx="2029968" cy="365760"/>
          </a:xfrm>
          <a:prstGeom prst="rect">
            <a:avLst/>
          </a:prstGeom>
          <a:noFill/>
          <a:ln/>
        </p:spPr>
        <p:txBody>
          <a:bodyPr wrap="square" lIns="0" tIns="0" rIns="0" bIns="0" rtlCol="0" anchor="t"/>
          <a:lstStyle/>
          <a:p>
            <a:pPr indent="0" marL="0">
              <a:buNone/>
            </a:pPr>
            <a:r>
              <a:rPr lang="en-US" sz="1700" b="1" dirty="0">
                <a:solidFill>
                  <a:schemeClr val="accent1"/>
                </a:solidFill>
              </a:rPr>
              <a:t>src/ehr</a:t>
            </a:r>
            <a:endParaRPr lang="en-US" sz="1700" dirty="0"/>
          </a:p>
        </p:txBody>
      </p:sp>
      <p:sp>
        <p:nvSpPr>
          <p:cNvPr id="8" name="Text 6"/>
          <p:cNvSpPr txBox="1"/>
          <p:nvPr/>
        </p:nvSpPr>
        <p:spPr>
          <a:xfrm>
            <a:off x="3630168" y="1984248"/>
            <a:ext cx="2029968" cy="685800"/>
          </a:xfrm>
          <a:prstGeom prst="rect">
            <a:avLst/>
          </a:prstGeom>
          <a:noFill/>
          <a:ln/>
        </p:spPr>
        <p:txBody>
          <a:bodyPr wrap="square" lIns="0" tIns="0" rIns="0" bIns="0" rtlCol="0" anchor="t"/>
          <a:lstStyle/>
          <a:p>
            <a:pPr indent="0" marL="0">
              <a:buNone/>
            </a:pPr>
            <a:r>
              <a:rPr lang="en-US" sz="1300" dirty="0">
                <a:solidFill>
                  <a:schemeClr val="tx1"/>
                </a:solidFill>
              </a:rPr>
              <a:t>Adults with T2D or prediabetes → 238 patients</a:t>
            </a:r>
            <a:endParaRPr lang="en-US" sz="1300" dirty="0"/>
          </a:p>
        </p:txBody>
      </p:sp>
      <p:sp>
        <p:nvSpPr>
          <p:cNvPr id="9" name="node src/wearable"/>
          <p:cNvSpPr/>
          <p:nvPr/>
        </p:nvSpPr>
        <p:spPr>
          <a:xfrm>
            <a:off x="6345936" y="1417320"/>
            <a:ext cx="2395728" cy="1371600"/>
          </a:xfrm>
          <a:prstGeom prst="roundRect">
            <a:avLst>
              <a:gd name="adj" fmla="val 8000"/>
            </a:avLst>
          </a:prstGeom>
          <a:solidFill>
            <a:schemeClr val="bg2"/>
          </a:solidFill>
          <a:ln/>
        </p:spPr>
      </p:sp>
      <p:sp>
        <p:nvSpPr>
          <p:cNvPr id="10" name="Text 8"/>
          <p:cNvSpPr txBox="1"/>
          <p:nvPr/>
        </p:nvSpPr>
        <p:spPr>
          <a:xfrm>
            <a:off x="6528816" y="1581912"/>
            <a:ext cx="2029968" cy="365760"/>
          </a:xfrm>
          <a:prstGeom prst="rect">
            <a:avLst/>
          </a:prstGeom>
          <a:noFill/>
          <a:ln/>
        </p:spPr>
        <p:txBody>
          <a:bodyPr wrap="square" lIns="0" tIns="0" rIns="0" bIns="0" rtlCol="0" anchor="t"/>
          <a:lstStyle/>
          <a:p>
            <a:pPr indent="0" marL="0">
              <a:buNone/>
            </a:pPr>
            <a:r>
              <a:rPr lang="en-US" sz="1700" b="1" dirty="0">
                <a:solidFill>
                  <a:schemeClr val="accent1"/>
                </a:solidFill>
              </a:rPr>
              <a:t>src/wearable</a:t>
            </a:r>
            <a:endParaRPr lang="en-US" sz="1700" dirty="0"/>
          </a:p>
        </p:txBody>
      </p:sp>
      <p:sp>
        <p:nvSpPr>
          <p:cNvPr id="11" name="Text 9"/>
          <p:cNvSpPr txBox="1"/>
          <p:nvPr/>
        </p:nvSpPr>
        <p:spPr>
          <a:xfrm>
            <a:off x="6528816" y="1984248"/>
            <a:ext cx="2029968" cy="685800"/>
          </a:xfrm>
          <a:prstGeom prst="rect">
            <a:avLst/>
          </a:prstGeom>
          <a:noFill/>
          <a:ln/>
        </p:spPr>
        <p:txBody>
          <a:bodyPr wrap="square" lIns="0" tIns="0" rIns="0" bIns="0" rtlCol="0" anchor="t"/>
          <a:lstStyle/>
          <a:p>
            <a:pPr indent="0" marL="0">
              <a:buNone/>
            </a:pPr>
            <a:r>
              <a:rPr lang="en-US" sz="1300" dirty="0">
                <a:solidFill>
                  <a:schemeClr val="tx1"/>
                </a:solidFill>
              </a:rPr>
              <a:t>Physiological simulator: 14 days × 5 min CGM, HR, steps, meals, sleep</a:t>
            </a:r>
            <a:endParaRPr lang="en-US" sz="1300" dirty="0"/>
          </a:p>
        </p:txBody>
      </p:sp>
      <p:sp>
        <p:nvSpPr>
          <p:cNvPr id="12" name="node src/features"/>
          <p:cNvSpPr/>
          <p:nvPr/>
        </p:nvSpPr>
        <p:spPr>
          <a:xfrm>
            <a:off x="9244584" y="1417320"/>
            <a:ext cx="2395728" cy="1371600"/>
          </a:xfrm>
          <a:prstGeom prst="roundRect">
            <a:avLst>
              <a:gd name="adj" fmla="val 8000"/>
            </a:avLst>
          </a:prstGeom>
          <a:solidFill>
            <a:schemeClr val="bg2"/>
          </a:solidFill>
          <a:ln/>
        </p:spPr>
      </p:sp>
      <p:sp>
        <p:nvSpPr>
          <p:cNvPr id="13" name="Text 11"/>
          <p:cNvSpPr txBox="1"/>
          <p:nvPr/>
        </p:nvSpPr>
        <p:spPr>
          <a:xfrm>
            <a:off x="9427464" y="1581912"/>
            <a:ext cx="2029968" cy="365760"/>
          </a:xfrm>
          <a:prstGeom prst="rect">
            <a:avLst/>
          </a:prstGeom>
          <a:noFill/>
          <a:ln/>
        </p:spPr>
        <p:txBody>
          <a:bodyPr wrap="square" lIns="0" tIns="0" rIns="0" bIns="0" rtlCol="0" anchor="t"/>
          <a:lstStyle/>
          <a:p>
            <a:pPr indent="0" marL="0">
              <a:buNone/>
            </a:pPr>
            <a:r>
              <a:rPr lang="en-US" sz="1700" b="1" dirty="0">
                <a:solidFill>
                  <a:schemeClr val="accent1"/>
                </a:solidFill>
              </a:rPr>
              <a:t>src/features</a:t>
            </a:r>
            <a:endParaRPr lang="en-US" sz="1700" dirty="0"/>
          </a:p>
        </p:txBody>
      </p:sp>
      <p:sp>
        <p:nvSpPr>
          <p:cNvPr id="14" name="Text 12"/>
          <p:cNvSpPr txBox="1"/>
          <p:nvPr/>
        </p:nvSpPr>
        <p:spPr>
          <a:xfrm>
            <a:off x="9427464" y="1984248"/>
            <a:ext cx="2029968" cy="685800"/>
          </a:xfrm>
          <a:prstGeom prst="rect">
            <a:avLst/>
          </a:prstGeom>
          <a:noFill/>
          <a:ln/>
        </p:spPr>
        <p:txBody>
          <a:bodyPr wrap="square" lIns="0" tIns="0" rIns="0" bIns="0" rtlCol="0" anchor="t"/>
          <a:lstStyle/>
          <a:p>
            <a:pPr indent="0" marL="0">
              <a:buNone/>
            </a:pPr>
            <a:r>
              <a:rPr lang="en-US" sz="1300" dirty="0">
                <a:solidFill>
                  <a:schemeClr val="tx1"/>
                </a:solidFill>
              </a:rPr>
              <a:t>32 features + label, 948k rows</a:t>
            </a:r>
            <a:endParaRPr lang="en-US" sz="1300" dirty="0"/>
          </a:p>
        </p:txBody>
      </p:sp>
      <p:sp>
        <p:nvSpPr>
          <p:cNvPr id="15" name="node src/model"/>
          <p:cNvSpPr/>
          <p:nvPr/>
        </p:nvSpPr>
        <p:spPr>
          <a:xfrm>
            <a:off x="9244584" y="3749040"/>
            <a:ext cx="2395728" cy="1371600"/>
          </a:xfrm>
          <a:prstGeom prst="roundRect">
            <a:avLst>
              <a:gd name="adj" fmla="val 8000"/>
            </a:avLst>
          </a:prstGeom>
          <a:solidFill>
            <a:schemeClr val="bg2"/>
          </a:solidFill>
          <a:ln/>
        </p:spPr>
      </p:sp>
      <p:sp>
        <p:nvSpPr>
          <p:cNvPr id="16" name="Text 14"/>
          <p:cNvSpPr txBox="1"/>
          <p:nvPr/>
        </p:nvSpPr>
        <p:spPr>
          <a:xfrm>
            <a:off x="9427464" y="3913632"/>
            <a:ext cx="2029968" cy="365760"/>
          </a:xfrm>
          <a:prstGeom prst="rect">
            <a:avLst/>
          </a:prstGeom>
          <a:noFill/>
          <a:ln/>
        </p:spPr>
        <p:txBody>
          <a:bodyPr wrap="square" lIns="0" tIns="0" rIns="0" bIns="0" rtlCol="0" anchor="t"/>
          <a:lstStyle/>
          <a:p>
            <a:pPr indent="0" marL="0">
              <a:buNone/>
            </a:pPr>
            <a:r>
              <a:rPr lang="en-US" sz="1700" b="1" dirty="0">
                <a:solidFill>
                  <a:schemeClr val="accent1"/>
                </a:solidFill>
              </a:rPr>
              <a:t>src/model</a:t>
            </a:r>
            <a:endParaRPr lang="en-US" sz="1700" dirty="0"/>
          </a:p>
        </p:txBody>
      </p:sp>
      <p:sp>
        <p:nvSpPr>
          <p:cNvPr id="17" name="Text 15"/>
          <p:cNvSpPr txBox="1"/>
          <p:nvPr/>
        </p:nvSpPr>
        <p:spPr>
          <a:xfrm>
            <a:off x="9427464" y="4315968"/>
            <a:ext cx="2029968" cy="685800"/>
          </a:xfrm>
          <a:prstGeom prst="rect">
            <a:avLst/>
          </a:prstGeom>
          <a:noFill/>
          <a:ln/>
        </p:spPr>
        <p:txBody>
          <a:bodyPr wrap="square" lIns="0" tIns="0" rIns="0" bIns="0" rtlCol="0" anchor="t"/>
          <a:lstStyle/>
          <a:p>
            <a:pPr indent="0" marL="0">
              <a:buNone/>
            </a:pPr>
            <a:r>
              <a:rPr lang="en-US" sz="1300" dirty="0">
                <a:solidFill>
                  <a:schemeClr val="tx1"/>
                </a:solidFill>
              </a:rPr>
              <a:t>LightGBM, patient split, baseline, SHAP reasons</a:t>
            </a:r>
            <a:endParaRPr lang="en-US" sz="1300" dirty="0"/>
          </a:p>
        </p:txBody>
      </p:sp>
      <p:sp>
        <p:nvSpPr>
          <p:cNvPr id="18" name="node src/twin"/>
          <p:cNvSpPr/>
          <p:nvPr/>
        </p:nvSpPr>
        <p:spPr>
          <a:xfrm>
            <a:off x="6345936" y="3749040"/>
            <a:ext cx="2395728" cy="1371600"/>
          </a:xfrm>
          <a:prstGeom prst="roundRect">
            <a:avLst>
              <a:gd name="adj" fmla="val 8000"/>
            </a:avLst>
          </a:prstGeom>
          <a:solidFill>
            <a:schemeClr val="bg2"/>
          </a:solidFill>
          <a:ln/>
        </p:spPr>
      </p:sp>
      <p:sp>
        <p:nvSpPr>
          <p:cNvPr id="19" name="Text 17"/>
          <p:cNvSpPr txBox="1"/>
          <p:nvPr/>
        </p:nvSpPr>
        <p:spPr>
          <a:xfrm>
            <a:off x="6528816" y="3913632"/>
            <a:ext cx="2029968" cy="365760"/>
          </a:xfrm>
          <a:prstGeom prst="rect">
            <a:avLst/>
          </a:prstGeom>
          <a:noFill/>
          <a:ln/>
        </p:spPr>
        <p:txBody>
          <a:bodyPr wrap="square" lIns="0" tIns="0" rIns="0" bIns="0" rtlCol="0" anchor="t"/>
          <a:lstStyle/>
          <a:p>
            <a:pPr indent="0" marL="0">
              <a:buNone/>
            </a:pPr>
            <a:r>
              <a:rPr lang="en-US" sz="1700" b="1" dirty="0">
                <a:solidFill>
                  <a:schemeClr val="accent1"/>
                </a:solidFill>
              </a:rPr>
              <a:t>src/twin</a:t>
            </a:r>
            <a:endParaRPr lang="en-US" sz="1700" dirty="0"/>
          </a:p>
        </p:txBody>
      </p:sp>
      <p:sp>
        <p:nvSpPr>
          <p:cNvPr id="20" name="Text 18"/>
          <p:cNvSpPr txBox="1"/>
          <p:nvPr/>
        </p:nvSpPr>
        <p:spPr>
          <a:xfrm>
            <a:off x="6528816" y="4315968"/>
            <a:ext cx="2029968" cy="685800"/>
          </a:xfrm>
          <a:prstGeom prst="rect">
            <a:avLst/>
          </a:prstGeom>
          <a:noFill/>
          <a:ln/>
        </p:spPr>
        <p:txBody>
          <a:bodyPr wrap="square" lIns="0" tIns="0" rIns="0" bIns="0" rtlCol="0" anchor="t"/>
          <a:lstStyle/>
          <a:p>
            <a:pPr indent="0" marL="0">
              <a:buNone/>
            </a:pPr>
            <a:r>
              <a:rPr lang="en-US" sz="1300" dirty="0">
                <a:solidFill>
                  <a:schemeClr val="tx1"/>
                </a:solidFill>
              </a:rPr>
              <a:t>Edit meal, walk or sleep → re-simulate 2 h → re-score</a:t>
            </a:r>
            <a:endParaRPr lang="en-US" sz="1300" dirty="0"/>
          </a:p>
        </p:txBody>
      </p:sp>
      <p:sp>
        <p:nvSpPr>
          <p:cNvPr id="21" name="node FastAPI"/>
          <p:cNvSpPr/>
          <p:nvPr/>
        </p:nvSpPr>
        <p:spPr>
          <a:xfrm>
            <a:off x="3447288" y="3749040"/>
            <a:ext cx="2395728" cy="1371600"/>
          </a:xfrm>
          <a:prstGeom prst="roundRect">
            <a:avLst>
              <a:gd name="adj" fmla="val 8000"/>
            </a:avLst>
          </a:prstGeom>
          <a:solidFill>
            <a:schemeClr val="bg2"/>
          </a:solidFill>
          <a:ln/>
        </p:spPr>
      </p:sp>
      <p:sp>
        <p:nvSpPr>
          <p:cNvPr id="22" name="Text 20"/>
          <p:cNvSpPr txBox="1"/>
          <p:nvPr/>
        </p:nvSpPr>
        <p:spPr>
          <a:xfrm>
            <a:off x="3630168" y="3913632"/>
            <a:ext cx="2029968" cy="365760"/>
          </a:xfrm>
          <a:prstGeom prst="rect">
            <a:avLst/>
          </a:prstGeom>
          <a:noFill/>
          <a:ln/>
        </p:spPr>
        <p:txBody>
          <a:bodyPr wrap="square" lIns="0" tIns="0" rIns="0" bIns="0" rtlCol="0" anchor="t"/>
          <a:lstStyle/>
          <a:p>
            <a:pPr indent="0" marL="0">
              <a:buNone/>
            </a:pPr>
            <a:r>
              <a:rPr lang="en-US" sz="1700" b="1" dirty="0">
                <a:solidFill>
                  <a:schemeClr val="accent1"/>
                </a:solidFill>
              </a:rPr>
              <a:t>FastAPI</a:t>
            </a:r>
            <a:endParaRPr lang="en-US" sz="1700" dirty="0"/>
          </a:p>
        </p:txBody>
      </p:sp>
      <p:sp>
        <p:nvSpPr>
          <p:cNvPr id="23" name="Text 21"/>
          <p:cNvSpPr txBox="1"/>
          <p:nvPr/>
        </p:nvSpPr>
        <p:spPr>
          <a:xfrm>
            <a:off x="3630168" y="4315968"/>
            <a:ext cx="2029968" cy="685800"/>
          </a:xfrm>
          <a:prstGeom prst="rect">
            <a:avLst/>
          </a:prstGeom>
          <a:noFill/>
          <a:ln/>
        </p:spPr>
        <p:txBody>
          <a:bodyPr wrap="square" lIns="0" tIns="0" rIns="0" bIns="0" rtlCol="0" anchor="t"/>
          <a:lstStyle/>
          <a:p>
            <a:pPr indent="0" marL="0">
              <a:buNone/>
            </a:pPr>
            <a:r>
              <a:rPr lang="en-US" sz="1300" dirty="0">
                <a:solidFill>
                  <a:schemeClr val="tx1"/>
                </a:solidFill>
              </a:rPr>
              <a:t>/patients, /predict, /whatif</a:t>
            </a:r>
            <a:endParaRPr lang="en-US" sz="1300" dirty="0"/>
          </a:p>
        </p:txBody>
      </p:sp>
      <p:sp>
        <p:nvSpPr>
          <p:cNvPr id="24" name="node Streamlit dashboard"/>
          <p:cNvSpPr/>
          <p:nvPr/>
        </p:nvSpPr>
        <p:spPr>
          <a:xfrm>
            <a:off x="548640" y="3749040"/>
            <a:ext cx="2395728" cy="1371600"/>
          </a:xfrm>
          <a:prstGeom prst="roundRect">
            <a:avLst>
              <a:gd name="adj" fmla="val 8000"/>
            </a:avLst>
          </a:prstGeom>
          <a:solidFill>
            <a:schemeClr val="tx2"/>
          </a:solidFill>
          <a:ln/>
        </p:spPr>
      </p:sp>
      <p:sp>
        <p:nvSpPr>
          <p:cNvPr id="25" name="Text 23"/>
          <p:cNvSpPr txBox="1"/>
          <p:nvPr/>
        </p:nvSpPr>
        <p:spPr>
          <a:xfrm>
            <a:off x="731520" y="3913632"/>
            <a:ext cx="2029968" cy="365760"/>
          </a:xfrm>
          <a:prstGeom prst="rect">
            <a:avLst/>
          </a:prstGeom>
          <a:noFill/>
          <a:ln/>
        </p:spPr>
        <p:txBody>
          <a:bodyPr wrap="square" lIns="0" tIns="0" rIns="0" bIns="0" rtlCol="0" anchor="t"/>
          <a:lstStyle/>
          <a:p>
            <a:pPr indent="0" marL="0">
              <a:buNone/>
            </a:pPr>
            <a:r>
              <a:rPr lang="en-US" sz="1700" b="1" dirty="0">
                <a:solidFill>
                  <a:schemeClr val="bg1"/>
                </a:solidFill>
              </a:rPr>
              <a:t>Streamlit dashboard</a:t>
            </a:r>
            <a:endParaRPr lang="en-US" sz="1700" dirty="0"/>
          </a:p>
        </p:txBody>
      </p:sp>
      <p:sp>
        <p:nvSpPr>
          <p:cNvPr id="26" name="Text 24"/>
          <p:cNvSpPr txBox="1"/>
          <p:nvPr/>
        </p:nvSpPr>
        <p:spPr>
          <a:xfrm>
            <a:off x="731520" y="4315968"/>
            <a:ext cx="2029968" cy="685800"/>
          </a:xfrm>
          <a:prstGeom prst="rect">
            <a:avLst/>
          </a:prstGeom>
          <a:noFill/>
          <a:ln/>
        </p:spPr>
        <p:txBody>
          <a:bodyPr wrap="square" lIns="0" tIns="0" rIns="0" bIns="0" rtlCol="0" anchor="t"/>
          <a:lstStyle/>
          <a:p>
            <a:pPr indent="0" marL="0">
              <a:buNone/>
            </a:pPr>
            <a:r>
              <a:rPr lang="en-US" sz="1300" dirty="0">
                <a:solidFill>
                  <a:schemeClr val="bg1"/>
                </a:solidFill>
              </a:rPr>
              <a:t>Risk-sorted patients, CGM + risk band, reasons, what-if sliders → clinician</a:t>
            </a:r>
            <a:endParaRPr lang="en-US" sz="1300" dirty="0"/>
          </a:p>
        </p:txBody>
      </p:sp>
      <p:sp>
        <p:nvSpPr>
          <p:cNvPr id="27" name="arrow 0"/>
          <p:cNvSpPr/>
          <p:nvPr/>
        </p:nvSpPr>
        <p:spPr>
          <a:xfrm>
            <a:off x="3017520" y="2103120"/>
            <a:ext cx="356616" cy="0"/>
          </a:xfrm>
          <a:prstGeom prst="line">
            <a:avLst/>
          </a:prstGeom>
          <a:noFill/>
          <a:ln w="25400">
            <a:solidFill>
              <a:schemeClr val="accent5"/>
            </a:solidFill>
            <a:prstDash val="solid"/>
            <a:tailEnd type="triangle"/>
          </a:ln>
        </p:spPr>
      </p:sp>
      <p:sp>
        <p:nvSpPr>
          <p:cNvPr id="28" name="arrow 1"/>
          <p:cNvSpPr/>
          <p:nvPr/>
        </p:nvSpPr>
        <p:spPr>
          <a:xfrm>
            <a:off x="5916168" y="2103120"/>
            <a:ext cx="356616" cy="0"/>
          </a:xfrm>
          <a:prstGeom prst="line">
            <a:avLst/>
          </a:prstGeom>
          <a:noFill/>
          <a:ln w="25400">
            <a:solidFill>
              <a:schemeClr val="accent5"/>
            </a:solidFill>
            <a:prstDash val="solid"/>
            <a:tailEnd type="triangle"/>
          </a:ln>
        </p:spPr>
      </p:sp>
      <p:sp>
        <p:nvSpPr>
          <p:cNvPr id="29" name="arrow 2"/>
          <p:cNvSpPr/>
          <p:nvPr/>
        </p:nvSpPr>
        <p:spPr>
          <a:xfrm>
            <a:off x="8814816" y="2103120"/>
            <a:ext cx="356616" cy="0"/>
          </a:xfrm>
          <a:prstGeom prst="line">
            <a:avLst/>
          </a:prstGeom>
          <a:noFill/>
          <a:ln w="25400">
            <a:solidFill>
              <a:schemeClr val="accent5"/>
            </a:solidFill>
            <a:prstDash val="solid"/>
            <a:tailEnd type="triangle"/>
          </a:ln>
        </p:spPr>
      </p:sp>
      <p:sp>
        <p:nvSpPr>
          <p:cNvPr id="30" name="arrow down"/>
          <p:cNvSpPr/>
          <p:nvPr/>
        </p:nvSpPr>
        <p:spPr>
          <a:xfrm>
            <a:off x="10442448" y="2880360"/>
            <a:ext cx="0" cy="777240"/>
          </a:xfrm>
          <a:prstGeom prst="line">
            <a:avLst/>
          </a:prstGeom>
          <a:noFill/>
          <a:ln w="25400">
            <a:solidFill>
              <a:schemeClr val="accent5"/>
            </a:solidFill>
            <a:prstDash val="solid"/>
            <a:tailEnd type="triangle"/>
          </a:ln>
        </p:spPr>
      </p:sp>
      <p:sp>
        <p:nvSpPr>
          <p:cNvPr id="31" name="arrow 4"/>
          <p:cNvSpPr/>
          <p:nvPr/>
        </p:nvSpPr>
        <p:spPr>
          <a:xfrm flipH="1">
            <a:off x="8814816" y="4434840"/>
            <a:ext cx="356616" cy="0"/>
          </a:xfrm>
          <a:prstGeom prst="line">
            <a:avLst/>
          </a:prstGeom>
          <a:noFill/>
          <a:ln w="25400">
            <a:solidFill>
              <a:schemeClr val="accent5"/>
            </a:solidFill>
            <a:prstDash val="solid"/>
            <a:tailEnd type="triangle"/>
          </a:ln>
        </p:spPr>
      </p:sp>
      <p:sp>
        <p:nvSpPr>
          <p:cNvPr id="32" name="arrow 5"/>
          <p:cNvSpPr/>
          <p:nvPr/>
        </p:nvSpPr>
        <p:spPr>
          <a:xfrm flipH="1">
            <a:off x="5916168" y="4434840"/>
            <a:ext cx="356616" cy="0"/>
          </a:xfrm>
          <a:prstGeom prst="line">
            <a:avLst/>
          </a:prstGeom>
          <a:noFill/>
          <a:ln w="25400">
            <a:solidFill>
              <a:schemeClr val="accent5"/>
            </a:solidFill>
            <a:prstDash val="solid"/>
            <a:tailEnd type="triangle"/>
          </a:ln>
        </p:spPr>
      </p:sp>
      <p:sp>
        <p:nvSpPr>
          <p:cNvPr id="33" name="arrow 6"/>
          <p:cNvSpPr/>
          <p:nvPr/>
        </p:nvSpPr>
        <p:spPr>
          <a:xfrm flipH="1">
            <a:off x="3017520" y="4434840"/>
            <a:ext cx="356616" cy="0"/>
          </a:xfrm>
          <a:prstGeom prst="line">
            <a:avLst/>
          </a:prstGeom>
          <a:noFill/>
          <a:ln w="25400">
            <a:solidFill>
              <a:schemeClr val="accent5"/>
            </a:solidFill>
            <a:prstDash val="solid"/>
            <a:tailEnd type="triangle"/>
          </a:ln>
        </p:spPr>
      </p:sp>
      <p:sp>
        <p:nvSpPr>
          <p:cNvPr id="34" name="Text 32"/>
          <p:cNvSpPr txBox="1"/>
          <p:nvPr/>
        </p:nvSpPr>
        <p:spPr>
          <a:xfrm>
            <a:off x="548640" y="5440680"/>
            <a:ext cx="11091672" cy="411480"/>
          </a:xfrm>
          <a:prstGeom prst="rect">
            <a:avLst/>
          </a:prstGeom>
          <a:noFill/>
          <a:ln/>
        </p:spPr>
        <p:txBody>
          <a:bodyPr wrap="square" lIns="0" tIns="0" rIns="0" bIns="0" rtlCol="0" anchor="t"/>
          <a:lstStyle/>
          <a:p>
            <a:pPr indent="0" marL="0">
              <a:buNone/>
            </a:pPr>
            <a:r>
              <a:rPr lang="en-US" sz="1400" i="1" dirty="0">
                <a:solidFill>
                  <a:schemeClr val="accent5"/>
                </a:solidFill>
              </a:rPr>
              <a:t>The twin reuses the same simulator and feature code as training, so what-if results are scored by the same model.</a:t>
            </a:r>
            <a:endParaRPr lang="en-US" sz="14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Wearable simulator grounded in diabetes physiology</a:t>
            </a:r>
            <a:endParaRPr lang="en-US" sz="3600" dirty="0"/>
          </a:p>
        </p:txBody>
      </p:sp>
      <p:sp>
        <p:nvSpPr>
          <p:cNvPr id="3" name="badge A1c"/>
          <p:cNvSpPr/>
          <p:nvPr/>
        </p:nvSpPr>
        <p:spPr>
          <a:xfrm>
            <a:off x="548640" y="1463040"/>
            <a:ext cx="685800" cy="685800"/>
          </a:xfrm>
          <a:prstGeom prst="ellipse">
            <a:avLst/>
          </a:prstGeom>
          <a:solidFill>
            <a:schemeClr val="accent1"/>
          </a:solidFill>
          <a:ln/>
        </p:spPr>
      </p:sp>
      <p:sp>
        <p:nvSpPr>
          <p:cNvPr id="4" name="Text 2"/>
          <p:cNvSpPr txBox="1"/>
          <p:nvPr/>
        </p:nvSpPr>
        <p:spPr>
          <a:xfrm>
            <a:off x="548640" y="1463040"/>
            <a:ext cx="685800" cy="685800"/>
          </a:xfrm>
          <a:prstGeom prst="rect">
            <a:avLst/>
          </a:prstGeom>
          <a:noFill/>
          <a:ln/>
        </p:spPr>
        <p:txBody>
          <a:bodyPr wrap="square" lIns="0" tIns="0" rIns="0" bIns="0" rtlCol="0" anchor="ctr"/>
          <a:lstStyle/>
          <a:p>
            <a:pPr algn="ctr" indent="0" marL="0">
              <a:buNone/>
            </a:pPr>
            <a:r>
              <a:rPr lang="en-US" sz="1400" b="1" dirty="0">
                <a:solidFill>
                  <a:schemeClr val="bg1"/>
                </a:solidFill>
              </a:rPr>
              <a:t>A1c</a:t>
            </a:r>
            <a:endParaRPr lang="en-US" sz="1400" dirty="0"/>
          </a:p>
        </p:txBody>
      </p:sp>
      <p:sp>
        <p:nvSpPr>
          <p:cNvPr id="5" name="Text 3"/>
          <p:cNvSpPr txBox="1"/>
          <p:nvPr/>
        </p:nvSpPr>
        <p:spPr>
          <a:xfrm>
            <a:off x="1463040" y="1417320"/>
            <a:ext cx="4357116" cy="411480"/>
          </a:xfrm>
          <a:prstGeom prst="rect">
            <a:avLst/>
          </a:prstGeom>
          <a:noFill/>
          <a:ln/>
        </p:spPr>
        <p:txBody>
          <a:bodyPr wrap="square" lIns="0" tIns="0" rIns="0" bIns="0" rtlCol="0" anchor="t"/>
          <a:lstStyle/>
          <a:p>
            <a:pPr indent="0" marL="0">
              <a:buNone/>
            </a:pPr>
            <a:r>
              <a:rPr lang="en-US" sz="1900" b="1" dirty="0">
                <a:solidFill>
                  <a:schemeClr val="tx2"/>
                </a:solidFill>
              </a:rPr>
              <a:t>Baseline from HbA1c</a:t>
            </a:r>
            <a:endParaRPr lang="en-US" sz="1900" dirty="0"/>
          </a:p>
        </p:txBody>
      </p:sp>
      <p:sp>
        <p:nvSpPr>
          <p:cNvPr id="6" name="Text 4"/>
          <p:cNvSpPr txBox="1"/>
          <p:nvPr/>
        </p:nvSpPr>
        <p:spPr>
          <a:xfrm>
            <a:off x="1463040" y="1856232"/>
            <a:ext cx="4357116" cy="868680"/>
          </a:xfrm>
          <a:prstGeom prst="rect">
            <a:avLst/>
          </a:prstGeom>
          <a:noFill/>
          <a:ln/>
        </p:spPr>
        <p:txBody>
          <a:bodyPr wrap="square" lIns="0" tIns="0" rIns="0" bIns="0" rtlCol="0" anchor="t"/>
          <a:lstStyle/>
          <a:p>
            <a:pPr indent="0" marL="0">
              <a:buNone/>
            </a:pPr>
            <a:r>
              <a:rPr lang="en-US" sz="1500" dirty="0">
                <a:solidFill>
                  <a:schemeClr val="tx1"/>
                </a:solidFill>
              </a:rPr>
              <a:t>eAG (mg/dL) = 28.7 × HbA1c − 46.7. Simulated mean tracks eAG (r = 0.945)</a:t>
            </a:r>
            <a:endParaRPr lang="en-US" sz="1500" dirty="0"/>
          </a:p>
        </p:txBody>
      </p:sp>
      <p:sp>
        <p:nvSpPr>
          <p:cNvPr id="7" name="badge M"/>
          <p:cNvSpPr/>
          <p:nvPr/>
        </p:nvSpPr>
        <p:spPr>
          <a:xfrm>
            <a:off x="6231636" y="1463040"/>
            <a:ext cx="685800" cy="685800"/>
          </a:xfrm>
          <a:prstGeom prst="ellipse">
            <a:avLst/>
          </a:prstGeom>
          <a:solidFill>
            <a:schemeClr val="accent3"/>
          </a:solidFill>
          <a:ln/>
        </p:spPr>
      </p:sp>
      <p:sp>
        <p:nvSpPr>
          <p:cNvPr id="8" name="Text 6"/>
          <p:cNvSpPr txBox="1"/>
          <p:nvPr/>
        </p:nvSpPr>
        <p:spPr>
          <a:xfrm>
            <a:off x="6231636" y="1463040"/>
            <a:ext cx="685800" cy="685800"/>
          </a:xfrm>
          <a:prstGeom prst="rect">
            <a:avLst/>
          </a:prstGeom>
          <a:noFill/>
          <a:ln/>
        </p:spPr>
        <p:txBody>
          <a:bodyPr wrap="square" lIns="0" tIns="0" rIns="0" bIns="0" rtlCol="0" anchor="ctr"/>
          <a:lstStyle/>
          <a:p>
            <a:pPr algn="ctr" indent="0" marL="0">
              <a:buNone/>
            </a:pPr>
            <a:r>
              <a:rPr lang="en-US" sz="1700" b="1" dirty="0">
                <a:solidFill>
                  <a:schemeClr val="bg1"/>
                </a:solidFill>
              </a:rPr>
              <a:t>M</a:t>
            </a:r>
            <a:endParaRPr lang="en-US" sz="1700" dirty="0"/>
          </a:p>
        </p:txBody>
      </p:sp>
      <p:sp>
        <p:nvSpPr>
          <p:cNvPr id="9" name="Text 7"/>
          <p:cNvSpPr txBox="1"/>
          <p:nvPr/>
        </p:nvSpPr>
        <p:spPr>
          <a:xfrm>
            <a:off x="7146036" y="1417320"/>
            <a:ext cx="4357116" cy="411480"/>
          </a:xfrm>
          <a:prstGeom prst="rect">
            <a:avLst/>
          </a:prstGeom>
          <a:noFill/>
          <a:ln/>
        </p:spPr>
        <p:txBody>
          <a:bodyPr wrap="square" lIns="0" tIns="0" rIns="0" bIns="0" rtlCol="0" anchor="t"/>
          <a:lstStyle/>
          <a:p>
            <a:pPr indent="0" marL="0">
              <a:buNone/>
            </a:pPr>
            <a:r>
              <a:rPr lang="en-US" sz="1900" b="1" dirty="0">
                <a:solidFill>
                  <a:schemeClr val="tx2"/>
                </a:solidFill>
              </a:rPr>
              <a:t>Indian carb-heavy meals</a:t>
            </a:r>
            <a:endParaRPr lang="en-US" sz="1900" dirty="0"/>
          </a:p>
        </p:txBody>
      </p:sp>
      <p:sp>
        <p:nvSpPr>
          <p:cNvPr id="10" name="Text 8"/>
          <p:cNvSpPr txBox="1"/>
          <p:nvPr/>
        </p:nvSpPr>
        <p:spPr>
          <a:xfrm>
            <a:off x="7146036" y="1856232"/>
            <a:ext cx="4357116" cy="868680"/>
          </a:xfrm>
          <a:prstGeom prst="rect">
            <a:avLst/>
          </a:prstGeom>
          <a:noFill/>
          <a:ln/>
        </p:spPr>
        <p:txBody>
          <a:bodyPr wrap="square" lIns="0" tIns="0" rIns="0" bIns="0" rtlCol="0" anchor="t"/>
          <a:lstStyle/>
          <a:p>
            <a:pPr indent="0" marL="0">
              <a:buNone/>
            </a:pPr>
            <a:r>
              <a:rPr lang="en-US" sz="1500" dirty="0">
                <a:solidFill>
                  <a:schemeClr val="tx1"/>
                </a:solidFill>
              </a:rPr>
              <a:t>3 meals + optional snack. Peak 45–75 min, scaled by carbs × insulin resistance (BMI, HbA1c)</a:t>
            </a:r>
            <a:endParaRPr lang="en-US" sz="1500" dirty="0"/>
          </a:p>
        </p:txBody>
      </p:sp>
      <p:sp>
        <p:nvSpPr>
          <p:cNvPr id="11" name="badge S"/>
          <p:cNvSpPr/>
          <p:nvPr/>
        </p:nvSpPr>
        <p:spPr>
          <a:xfrm>
            <a:off x="548640" y="2971800"/>
            <a:ext cx="685800" cy="685800"/>
          </a:xfrm>
          <a:prstGeom prst="ellipse">
            <a:avLst/>
          </a:prstGeom>
          <a:solidFill>
            <a:schemeClr val="accent6"/>
          </a:solidFill>
          <a:ln/>
        </p:spPr>
      </p:sp>
      <p:sp>
        <p:nvSpPr>
          <p:cNvPr id="12" name="Text 10"/>
          <p:cNvSpPr txBox="1"/>
          <p:nvPr/>
        </p:nvSpPr>
        <p:spPr>
          <a:xfrm>
            <a:off x="548640" y="2971800"/>
            <a:ext cx="685800" cy="685800"/>
          </a:xfrm>
          <a:prstGeom prst="rect">
            <a:avLst/>
          </a:prstGeom>
          <a:noFill/>
          <a:ln/>
        </p:spPr>
        <p:txBody>
          <a:bodyPr wrap="square" lIns="0" tIns="0" rIns="0" bIns="0" rtlCol="0" anchor="ctr"/>
          <a:lstStyle/>
          <a:p>
            <a:pPr algn="ctr" indent="0" marL="0">
              <a:buNone/>
            </a:pPr>
            <a:r>
              <a:rPr lang="en-US" sz="1700" b="1" dirty="0">
                <a:solidFill>
                  <a:schemeClr val="bg1"/>
                </a:solidFill>
              </a:rPr>
              <a:t>S</a:t>
            </a:r>
            <a:endParaRPr lang="en-US" sz="1700" dirty="0"/>
          </a:p>
        </p:txBody>
      </p:sp>
      <p:sp>
        <p:nvSpPr>
          <p:cNvPr id="13" name="Text 11"/>
          <p:cNvSpPr txBox="1"/>
          <p:nvPr/>
        </p:nvSpPr>
        <p:spPr>
          <a:xfrm>
            <a:off x="1463040" y="2926080"/>
            <a:ext cx="4357116" cy="411480"/>
          </a:xfrm>
          <a:prstGeom prst="rect">
            <a:avLst/>
          </a:prstGeom>
          <a:noFill/>
          <a:ln/>
        </p:spPr>
        <p:txBody>
          <a:bodyPr wrap="square" lIns="0" tIns="0" rIns="0" bIns="0" rtlCol="0" anchor="t"/>
          <a:lstStyle/>
          <a:p>
            <a:pPr indent="0" marL="0">
              <a:buNone/>
            </a:pPr>
            <a:r>
              <a:rPr lang="en-US" sz="1900" b="1" dirty="0">
                <a:solidFill>
                  <a:schemeClr val="tx2"/>
                </a:solidFill>
              </a:rPr>
              <a:t>Steps lower glucose</a:t>
            </a:r>
            <a:endParaRPr lang="en-US" sz="1900" dirty="0"/>
          </a:p>
        </p:txBody>
      </p:sp>
      <p:sp>
        <p:nvSpPr>
          <p:cNvPr id="14" name="Text 12"/>
          <p:cNvSpPr txBox="1"/>
          <p:nvPr/>
        </p:nvSpPr>
        <p:spPr>
          <a:xfrm>
            <a:off x="1463040" y="3364992"/>
            <a:ext cx="4357116" cy="868680"/>
          </a:xfrm>
          <a:prstGeom prst="rect">
            <a:avLst/>
          </a:prstGeom>
          <a:noFill/>
          <a:ln/>
        </p:spPr>
        <p:txBody>
          <a:bodyPr wrap="square" lIns="0" tIns="0" rIns="0" bIns="0" rtlCol="0" anchor="t"/>
          <a:lstStyle/>
          <a:p>
            <a:pPr indent="0" marL="0">
              <a:buNone/>
            </a:pPr>
            <a:r>
              <a:rPr lang="en-US" sz="1500" dirty="0">
                <a:solidFill>
                  <a:schemeClr val="tx1"/>
                </a:solidFill>
              </a:rPr>
              <a:t>Effect lasts 1–3 h, strongest after meals. Heart rate rises with activity</a:t>
            </a:r>
            <a:endParaRPr lang="en-US" sz="1500" dirty="0"/>
          </a:p>
        </p:txBody>
      </p:sp>
      <p:sp>
        <p:nvSpPr>
          <p:cNvPr id="15" name="badge Z"/>
          <p:cNvSpPr/>
          <p:nvPr/>
        </p:nvSpPr>
        <p:spPr>
          <a:xfrm>
            <a:off x="6231636" y="2971800"/>
            <a:ext cx="685800" cy="685800"/>
          </a:xfrm>
          <a:prstGeom prst="ellipse">
            <a:avLst/>
          </a:prstGeom>
          <a:solidFill>
            <a:schemeClr val="accent4"/>
          </a:solidFill>
          <a:ln/>
        </p:spPr>
      </p:sp>
      <p:sp>
        <p:nvSpPr>
          <p:cNvPr id="16" name="Text 14"/>
          <p:cNvSpPr txBox="1"/>
          <p:nvPr/>
        </p:nvSpPr>
        <p:spPr>
          <a:xfrm>
            <a:off x="6231636" y="2971800"/>
            <a:ext cx="685800" cy="685800"/>
          </a:xfrm>
          <a:prstGeom prst="rect">
            <a:avLst/>
          </a:prstGeom>
          <a:noFill/>
          <a:ln/>
        </p:spPr>
        <p:txBody>
          <a:bodyPr wrap="square" lIns="0" tIns="0" rIns="0" bIns="0" rtlCol="0" anchor="ctr"/>
          <a:lstStyle/>
          <a:p>
            <a:pPr algn="ctr" indent="0" marL="0">
              <a:buNone/>
            </a:pPr>
            <a:r>
              <a:rPr lang="en-US" sz="1700" b="1" dirty="0">
                <a:solidFill>
                  <a:schemeClr val="bg1"/>
                </a:solidFill>
              </a:rPr>
              <a:t>Z</a:t>
            </a:r>
            <a:endParaRPr lang="en-US" sz="1700" dirty="0"/>
          </a:p>
        </p:txBody>
      </p:sp>
      <p:sp>
        <p:nvSpPr>
          <p:cNvPr id="17" name="Text 15"/>
          <p:cNvSpPr txBox="1"/>
          <p:nvPr/>
        </p:nvSpPr>
        <p:spPr>
          <a:xfrm>
            <a:off x="7146036" y="2926080"/>
            <a:ext cx="4357116" cy="411480"/>
          </a:xfrm>
          <a:prstGeom prst="rect">
            <a:avLst/>
          </a:prstGeom>
          <a:noFill/>
          <a:ln/>
        </p:spPr>
        <p:txBody>
          <a:bodyPr wrap="square" lIns="0" tIns="0" rIns="0" bIns="0" rtlCol="0" anchor="t"/>
          <a:lstStyle/>
          <a:p>
            <a:pPr indent="0" marL="0">
              <a:buNone/>
            </a:pPr>
            <a:r>
              <a:rPr lang="en-US" sz="1900" b="1" dirty="0">
                <a:solidFill>
                  <a:schemeClr val="tx2"/>
                </a:solidFill>
              </a:rPr>
              <a:t>Poor sleep raises resistance</a:t>
            </a:r>
            <a:endParaRPr lang="en-US" sz="1900" dirty="0"/>
          </a:p>
        </p:txBody>
      </p:sp>
      <p:sp>
        <p:nvSpPr>
          <p:cNvPr id="18" name="Text 16"/>
          <p:cNvSpPr txBox="1"/>
          <p:nvPr/>
        </p:nvSpPr>
        <p:spPr>
          <a:xfrm>
            <a:off x="7146036" y="3364992"/>
            <a:ext cx="4357116" cy="868680"/>
          </a:xfrm>
          <a:prstGeom prst="rect">
            <a:avLst/>
          </a:prstGeom>
          <a:noFill/>
          <a:ln/>
        </p:spPr>
        <p:txBody>
          <a:bodyPr wrap="square" lIns="0" tIns="0" rIns="0" bIns="0" rtlCol="0" anchor="t"/>
          <a:lstStyle/>
          <a:p>
            <a:pPr indent="0" marL="0">
              <a:buNone/>
            </a:pPr>
            <a:r>
              <a:rPr lang="en-US" sz="1500" dirty="0">
                <a:solidFill>
                  <a:schemeClr val="tx1"/>
                </a:solidFill>
              </a:rPr>
              <a:t>Under 6 h or low efficiency → higher next-day insulin resistance</a:t>
            </a:r>
            <a:endParaRPr lang="en-US" sz="1500" dirty="0"/>
          </a:p>
        </p:txBody>
      </p:sp>
      <p:sp>
        <p:nvSpPr>
          <p:cNvPr id="19" name="badge Rx"/>
          <p:cNvSpPr/>
          <p:nvPr/>
        </p:nvSpPr>
        <p:spPr>
          <a:xfrm>
            <a:off x="548640" y="4480560"/>
            <a:ext cx="685800" cy="685800"/>
          </a:xfrm>
          <a:prstGeom prst="ellipse">
            <a:avLst/>
          </a:prstGeom>
          <a:solidFill>
            <a:schemeClr val="accent2"/>
          </a:solidFill>
          <a:ln/>
        </p:spPr>
      </p:sp>
      <p:sp>
        <p:nvSpPr>
          <p:cNvPr id="20" name="Text 18"/>
          <p:cNvSpPr txBox="1"/>
          <p:nvPr/>
        </p:nvSpPr>
        <p:spPr>
          <a:xfrm>
            <a:off x="548640" y="4480560"/>
            <a:ext cx="685800" cy="685800"/>
          </a:xfrm>
          <a:prstGeom prst="rect">
            <a:avLst/>
          </a:prstGeom>
          <a:noFill/>
          <a:ln/>
        </p:spPr>
        <p:txBody>
          <a:bodyPr wrap="square" lIns="0" tIns="0" rIns="0" bIns="0" rtlCol="0" anchor="ctr"/>
          <a:lstStyle/>
          <a:p>
            <a:pPr algn="ctr" indent="0" marL="0">
              <a:buNone/>
            </a:pPr>
            <a:r>
              <a:rPr lang="en-US" sz="1700" b="1" dirty="0">
                <a:solidFill>
                  <a:schemeClr val="bg1"/>
                </a:solidFill>
              </a:rPr>
              <a:t>Rx</a:t>
            </a:r>
            <a:endParaRPr lang="en-US" sz="1700" dirty="0"/>
          </a:p>
        </p:txBody>
      </p:sp>
      <p:sp>
        <p:nvSpPr>
          <p:cNvPr id="21" name="Text 19"/>
          <p:cNvSpPr txBox="1"/>
          <p:nvPr/>
        </p:nvSpPr>
        <p:spPr>
          <a:xfrm>
            <a:off x="1463040" y="4434840"/>
            <a:ext cx="4357116" cy="411480"/>
          </a:xfrm>
          <a:prstGeom prst="rect">
            <a:avLst/>
          </a:prstGeom>
          <a:noFill/>
          <a:ln/>
        </p:spPr>
        <p:txBody>
          <a:bodyPr wrap="square" lIns="0" tIns="0" rIns="0" bIns="0" rtlCol="0" anchor="t"/>
          <a:lstStyle/>
          <a:p>
            <a:pPr indent="0" marL="0">
              <a:buNone/>
            </a:pPr>
            <a:r>
              <a:rPr lang="en-US" sz="1900" b="1" dirty="0">
                <a:solidFill>
                  <a:schemeClr val="tx2"/>
                </a:solidFill>
              </a:rPr>
              <a:t>Metformin</a:t>
            </a:r>
            <a:endParaRPr lang="en-US" sz="1900" dirty="0"/>
          </a:p>
        </p:txBody>
      </p:sp>
      <p:sp>
        <p:nvSpPr>
          <p:cNvPr id="22" name="Text 20"/>
          <p:cNvSpPr txBox="1"/>
          <p:nvPr/>
        </p:nvSpPr>
        <p:spPr>
          <a:xfrm>
            <a:off x="1463040" y="4873752"/>
            <a:ext cx="4357116" cy="868680"/>
          </a:xfrm>
          <a:prstGeom prst="rect">
            <a:avLst/>
          </a:prstGeom>
          <a:noFill/>
          <a:ln/>
        </p:spPr>
        <p:txBody>
          <a:bodyPr wrap="square" lIns="0" tIns="0" rIns="0" bIns="0" rtlCol="0" anchor="t"/>
          <a:lstStyle/>
          <a:p>
            <a:pPr indent="0" marL="0">
              <a:buNone/>
            </a:pPr>
            <a:r>
              <a:rPr lang="en-US" sz="1500" dirty="0">
                <a:solidFill>
                  <a:schemeClr val="tx1"/>
                </a:solidFill>
              </a:rPr>
              <a:t>Blunts the meal rise by 15%</a:t>
            </a:r>
            <a:endParaRPr lang="en-US" sz="1500" dirty="0"/>
          </a:p>
        </p:txBody>
      </p:sp>
      <p:sp>
        <p:nvSpPr>
          <p:cNvPr id="23" name="badge ~"/>
          <p:cNvSpPr/>
          <p:nvPr/>
        </p:nvSpPr>
        <p:spPr>
          <a:xfrm>
            <a:off x="6231636" y="4480560"/>
            <a:ext cx="685800" cy="685800"/>
          </a:xfrm>
          <a:prstGeom prst="ellipse">
            <a:avLst/>
          </a:prstGeom>
          <a:solidFill>
            <a:schemeClr val="accent5"/>
          </a:solidFill>
          <a:ln/>
        </p:spPr>
      </p:sp>
      <p:sp>
        <p:nvSpPr>
          <p:cNvPr id="24" name="Text 22"/>
          <p:cNvSpPr txBox="1"/>
          <p:nvPr/>
        </p:nvSpPr>
        <p:spPr>
          <a:xfrm>
            <a:off x="6231636" y="4480560"/>
            <a:ext cx="685800" cy="685800"/>
          </a:xfrm>
          <a:prstGeom prst="rect">
            <a:avLst/>
          </a:prstGeom>
          <a:noFill/>
          <a:ln/>
        </p:spPr>
        <p:txBody>
          <a:bodyPr wrap="square" lIns="0" tIns="0" rIns="0" bIns="0" rtlCol="0" anchor="ctr"/>
          <a:lstStyle/>
          <a:p>
            <a:pPr algn="ctr" indent="0" marL="0">
              <a:buNone/>
            </a:pPr>
            <a:r>
              <a:rPr lang="en-US" sz="1700" b="1" dirty="0">
                <a:solidFill>
                  <a:schemeClr val="bg1"/>
                </a:solidFill>
              </a:rPr>
              <a:t>~</a:t>
            </a:r>
            <a:endParaRPr lang="en-US" sz="1700" dirty="0"/>
          </a:p>
        </p:txBody>
      </p:sp>
      <p:sp>
        <p:nvSpPr>
          <p:cNvPr id="25" name="Text 23"/>
          <p:cNvSpPr txBox="1"/>
          <p:nvPr/>
        </p:nvSpPr>
        <p:spPr>
          <a:xfrm>
            <a:off x="7146036" y="4434840"/>
            <a:ext cx="4357116" cy="411480"/>
          </a:xfrm>
          <a:prstGeom prst="rect">
            <a:avLst/>
          </a:prstGeom>
          <a:noFill/>
          <a:ln/>
        </p:spPr>
        <p:txBody>
          <a:bodyPr wrap="square" lIns="0" tIns="0" rIns="0" bIns="0" rtlCol="0" anchor="t"/>
          <a:lstStyle/>
          <a:p>
            <a:pPr indent="0" marL="0">
              <a:buNone/>
            </a:pPr>
            <a:r>
              <a:rPr lang="en-US" sz="1900" b="1" dirty="0">
                <a:solidFill>
                  <a:schemeClr val="tx2"/>
                </a:solidFill>
              </a:rPr>
              <a:t>Realistic noise</a:t>
            </a:r>
            <a:endParaRPr lang="en-US" sz="1900" dirty="0"/>
          </a:p>
        </p:txBody>
      </p:sp>
      <p:sp>
        <p:nvSpPr>
          <p:cNvPr id="26" name="Text 24"/>
          <p:cNvSpPr txBox="1"/>
          <p:nvPr/>
        </p:nvSpPr>
        <p:spPr>
          <a:xfrm>
            <a:off x="7146036" y="4873752"/>
            <a:ext cx="4357116" cy="868680"/>
          </a:xfrm>
          <a:prstGeom prst="rect">
            <a:avLst/>
          </a:prstGeom>
          <a:noFill/>
          <a:ln/>
        </p:spPr>
        <p:txBody>
          <a:bodyPr wrap="square" lIns="0" tIns="0" rIns="0" bIns="0" rtlCol="0" anchor="t"/>
          <a:lstStyle/>
          <a:p>
            <a:pPr indent="0" marL="0">
              <a:buNone/>
            </a:pPr>
            <a:r>
              <a:rPr lang="en-US" sz="1500" dirty="0">
                <a:solidFill>
                  <a:schemeClr val="tx1"/>
                </a:solidFill>
              </a:rPr>
              <a:t>Physiological drift + CGM sensor noise, clipped to 40–400 mg/dL. Deterministic per seed</a:t>
            </a:r>
            <a:endParaRPr lang="en-US" sz="15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LightGBM on 32 fused features, split by patient</a:t>
            </a:r>
            <a:endParaRPr lang="en-US" sz="3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949440" cy="914400"/>
        </p:xfrm>
        <a:graphic>
          <a:graphicData uri="http://schemas.openxmlformats.org/drawingml/2006/table">
            <a:tbl>
              <a:tblPr/>
              <a:tblGrid>
                <a:gridCol w="1280160"/>
                <a:gridCol w="5669280"/>
              </a:tblGrid>
              <a:tr h="0">
                <a:tc>
                  <a:txBody>
                    <a:bodyPr/>
                    <a:lstStyle/>
                    <a:p>
                      <a:pPr indent="0" marL="0">
                        <a:buNone/>
                      </a:pPr>
                      <a:r>
                        <a:rPr lang="en-US" sz="1500" b="1" dirty="0">
                          <a:solidFill>
                            <a:schemeClr val="accent1"/>
                          </a:solidFill>
                        </a:rPr>
                        <a:t>Task</a:t>
                      </a:r>
                      <a:endParaRPr lang="en-US" sz="1500" dirty="0"/>
                    </a:p>
                  </a:txBody>
                  <a:tcPr marL="109728" marR="109728" marT="118872" marB="118872" anchor="t">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Will max glucose in (t, t+120 min] exceed 180 mg/dL?</a:t>
                      </a:r>
                      <a:endParaRPr lang="en-US" sz="1500" dirty="0"/>
                    </a:p>
                  </a:txBody>
                  <a:tcPr marL="109728" marR="109728" marT="118872" marB="118872" anchor="t">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chemeClr val="bg1"/>
                    </a:solidFill>
                  </a:tcPr>
                </a:tc>
              </a:tr>
              <a:tr h="0">
                <a:tc>
                  <a:txBody>
                    <a:bodyPr/>
                    <a:lstStyle/>
                    <a:p>
                      <a:pPr indent="0" marL="0">
                        <a:buNone/>
                      </a:pPr>
                      <a:r>
                        <a:rPr lang="en-US" sz="1500" b="1" dirty="0">
                          <a:solidFill>
                            <a:schemeClr val="accent1"/>
                          </a:solidFill>
                        </a:rPr>
                        <a:t>Unit</a:t>
                      </a:r>
                      <a:endParaRPr lang="en-US" sz="1500" dirty="0"/>
                    </a:p>
                  </a:txBody>
                  <a:tcPr marL="109728" marR="109728" marT="118872" marB="118872" anchor="t">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(patient, 5-minute timestamp)</a:t>
                      </a:r>
                      <a:endParaRPr lang="en-US" sz="1500" dirty="0"/>
                    </a:p>
                  </a:txBody>
                  <a:tcPr marL="109728" marR="109728" marT="118872" marB="118872" anchor="t">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chemeClr val="bg1"/>
                    </a:solidFill>
                  </a:tcPr>
                </a:tc>
              </a:tr>
              <a:tr h="0">
                <a:tc>
                  <a:txBody>
                    <a:bodyPr/>
                    <a:lstStyle/>
                    <a:p>
                      <a:pPr indent="0" marL="0">
                        <a:buNone/>
                      </a:pPr>
                      <a:r>
                        <a:rPr lang="en-US" sz="1500" b="1" dirty="0">
                          <a:solidFill>
                            <a:schemeClr val="accent1"/>
                          </a:solidFill>
                        </a:rPr>
                        <a:t>Features</a:t>
                      </a:r>
                      <a:endParaRPr lang="en-US" sz="1500" dirty="0"/>
                    </a:p>
                  </a:txBody>
                  <a:tcPr marL="109728" marR="109728" marT="118872" marB="118872" anchor="t">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Glucose now, 15/30/60-min lags, rate of change, rolling stats, carbs and steps in last 1–2 h, minutes since meal, heart rate, last night's sleep, time of day, static EHR</a:t>
                      </a:r>
                      <a:endParaRPr lang="en-US" sz="1500" dirty="0"/>
                    </a:p>
                  </a:txBody>
                  <a:tcPr marL="109728" marR="109728" marT="118872" marB="118872" anchor="t">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chemeClr val="bg1"/>
                    </a:solidFill>
                  </a:tcPr>
                </a:tc>
              </a:tr>
              <a:tr h="0">
                <a:tc>
                  <a:txBody>
                    <a:bodyPr/>
                    <a:lstStyle/>
                    <a:p>
                      <a:pPr indent="0" marL="0">
                        <a:buNone/>
                      </a:pPr>
                      <a:r>
                        <a:rPr lang="en-US" sz="1500" b="1" dirty="0">
                          <a:solidFill>
                            <a:schemeClr val="accent1"/>
                          </a:solidFill>
                        </a:rPr>
                        <a:t>Model</a:t>
                      </a:r>
                      <a:endParaRPr lang="en-US" sz="1500" dirty="0"/>
                    </a:p>
                  </a:txBody>
                  <a:tcPr marL="109728" marR="109728" marT="118872" marB="118872" anchor="t">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LightGBM · 500 trees · learning rate 0.05 · 31 leaves</a:t>
                      </a:r>
                      <a:endParaRPr lang="en-US" sz="1500" dirty="0"/>
                    </a:p>
                  </a:txBody>
                  <a:tcPr marL="109728" marR="109728" marT="118872" marB="118872" anchor="t">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chemeClr val="bg1"/>
                    </a:solidFill>
                  </a:tcPr>
                </a:tc>
              </a:tr>
              <a:tr h="0">
                <a:tc>
                  <a:txBody>
                    <a:bodyPr/>
                    <a:lstStyle/>
                    <a:p>
                      <a:pPr indent="0" marL="0">
                        <a:buNone/>
                      </a:pPr>
                      <a:r>
                        <a:rPr lang="en-US" sz="1500" b="1" dirty="0">
                          <a:solidFill>
                            <a:schemeClr val="accent1"/>
                          </a:solidFill>
                        </a:rPr>
                        <a:t>Baseline</a:t>
                      </a:r>
                      <a:endParaRPr lang="en-US" sz="1500" dirty="0"/>
                    </a:p>
                  </a:txBody>
                  <a:tcPr marL="109728" marR="109728" marT="118872" marB="118872" anchor="t">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Naive rule: current glucose &gt; threshold (swept)</a:t>
                      </a:r>
                      <a:endParaRPr lang="en-US" sz="1500" dirty="0"/>
                    </a:p>
                  </a:txBody>
                  <a:tcPr marL="109728" marR="109728" marT="118872" marB="118872" anchor="t">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chemeClr val="bg1"/>
                    </a:solidFill>
                  </a:tcPr>
                </a:tc>
              </a:tr>
              <a:tr h="0">
                <a:tc>
                  <a:txBody>
                    <a:bodyPr/>
                    <a:lstStyle/>
                    <a:p>
                      <a:pPr indent="0" marL="0">
                        <a:buNone/>
                      </a:pPr>
                      <a:r>
                        <a:rPr lang="en-US" sz="1500" b="1" dirty="0">
                          <a:solidFill>
                            <a:schemeClr val="accent1"/>
                          </a:solidFill>
                        </a:rPr>
                        <a:t>Explain</a:t>
                      </a:r>
                      <a:endParaRPr lang="en-US" sz="1500" dirty="0"/>
                    </a:p>
                  </a:txBody>
                  <a:tcPr marL="109728" marR="109728" marT="118872" marB="118872" anchor="t">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SHAP TreeExplainer, related features grouped into plain-English reasons</a:t>
                      </a:r>
                      <a:endParaRPr lang="en-US" sz="1500" dirty="0"/>
                    </a:p>
                  </a:txBody>
                  <a:tcPr marL="109728" marR="109728" marT="118872" marB="118872" anchor="t">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chemeClr val="bg1"/>
                    </a:solidFill>
                  </a:tcPr>
                </a:tc>
              </a:tr>
            </a:tbl>
          </a:graphicData>
        </a:graphic>
      </p:graphicFrame>
      <p:sp>
        <p:nvSpPr>
          <p:cNvPr id="4" name="split card"/>
          <p:cNvSpPr/>
          <p:nvPr/>
        </p:nvSpPr>
        <p:spPr>
          <a:xfrm>
            <a:off x="7909560" y="1417320"/>
            <a:ext cx="3730752" cy="4526280"/>
          </a:xfrm>
          <a:prstGeom prst="roundRect">
            <a:avLst>
              <a:gd name="adj" fmla="val 2941"/>
            </a:avLst>
          </a:prstGeom>
          <a:solidFill>
            <a:schemeClr val="tx2"/>
          </a:solidFill>
          <a:ln/>
        </p:spPr>
      </p:sp>
      <p:sp>
        <p:nvSpPr>
          <p:cNvPr id="5" name="Text 2"/>
          <p:cNvSpPr txBox="1"/>
          <p:nvPr/>
        </p:nvSpPr>
        <p:spPr>
          <a:xfrm>
            <a:off x="8183880" y="1691640"/>
            <a:ext cx="3200400" cy="822960"/>
          </a:xfrm>
          <a:prstGeom prst="rect">
            <a:avLst/>
          </a:prstGeom>
          <a:noFill/>
          <a:ln/>
        </p:spPr>
        <p:txBody>
          <a:bodyPr wrap="square" lIns="0" tIns="0" rIns="0" bIns="0" rtlCol="0" anchor="t"/>
          <a:lstStyle/>
          <a:p>
            <a:pPr indent="0" marL="0">
              <a:buNone/>
            </a:pPr>
            <a:r>
              <a:rPr lang="en-US" sz="2100" b="1" dirty="0">
                <a:solidFill>
                  <a:schemeClr val="bg1"/>
                </a:solidFill>
                <a:latin typeface="Cambria" pitchFamily="34" charset="0"/>
                <a:ea typeface="Cambria" pitchFamily="34" charset="-122"/>
                <a:cs typeface="Cambria" pitchFamily="34" charset="-120"/>
              </a:rPr>
              <a:t>No leakage between patients</a:t>
            </a:r>
            <a:endParaRPr lang="en-US" sz="2100" dirty="0"/>
          </a:p>
        </p:txBody>
      </p:sp>
      <p:sp>
        <p:nvSpPr>
          <p:cNvPr id="6" name="Text 3"/>
          <p:cNvSpPr txBox="1"/>
          <p:nvPr/>
        </p:nvSpPr>
        <p:spPr>
          <a:xfrm>
            <a:off x="8183880" y="2606040"/>
            <a:ext cx="1463040" cy="731520"/>
          </a:xfrm>
          <a:prstGeom prst="rect">
            <a:avLst/>
          </a:prstGeom>
          <a:noFill/>
          <a:ln/>
        </p:spPr>
        <p:txBody>
          <a:bodyPr wrap="square" lIns="0" tIns="0" rIns="0" bIns="0" rtlCol="0" anchor="t"/>
          <a:lstStyle/>
          <a:p>
            <a:pPr indent="0" marL="0">
              <a:buNone/>
            </a:pPr>
            <a:r>
              <a:rPr lang="en-US" sz="4400" b="1" dirty="0">
                <a:solidFill>
                  <a:schemeClr val="accent3"/>
                </a:solidFill>
                <a:latin typeface="Cambria" pitchFamily="34" charset="0"/>
                <a:ea typeface="Cambria" pitchFamily="34" charset="-122"/>
                <a:cs typeface="Cambria" pitchFamily="34" charset="-120"/>
              </a:rPr>
              <a:t>178</a:t>
            </a:r>
            <a:endParaRPr lang="en-US" sz="4400" dirty="0"/>
          </a:p>
        </p:txBody>
      </p:sp>
      <p:sp>
        <p:nvSpPr>
          <p:cNvPr id="7" name="Text 4"/>
          <p:cNvSpPr txBox="1"/>
          <p:nvPr/>
        </p:nvSpPr>
        <p:spPr>
          <a:xfrm>
            <a:off x="8183880" y="3337560"/>
            <a:ext cx="1463040" cy="365760"/>
          </a:xfrm>
          <a:prstGeom prst="rect">
            <a:avLst/>
          </a:prstGeom>
          <a:noFill/>
          <a:ln/>
        </p:spPr>
        <p:txBody>
          <a:bodyPr wrap="square" lIns="0" tIns="0" rIns="0" bIns="0" rtlCol="0" anchor="t"/>
          <a:lstStyle/>
          <a:p>
            <a:pPr indent="0" marL="0">
              <a:buNone/>
            </a:pPr>
            <a:r>
              <a:rPr lang="en-US" sz="1400" dirty="0">
                <a:solidFill>
                  <a:schemeClr val="bg1"/>
                </a:solidFill>
              </a:rPr>
              <a:t>train patients</a:t>
            </a:r>
            <a:endParaRPr lang="en-US" sz="1400" dirty="0"/>
          </a:p>
        </p:txBody>
      </p:sp>
      <p:sp>
        <p:nvSpPr>
          <p:cNvPr id="8" name="Text 5"/>
          <p:cNvSpPr txBox="1"/>
          <p:nvPr/>
        </p:nvSpPr>
        <p:spPr>
          <a:xfrm>
            <a:off x="9921240" y="2606040"/>
            <a:ext cx="1463040" cy="731520"/>
          </a:xfrm>
          <a:prstGeom prst="rect">
            <a:avLst/>
          </a:prstGeom>
          <a:noFill/>
          <a:ln/>
        </p:spPr>
        <p:txBody>
          <a:bodyPr wrap="square" lIns="0" tIns="0" rIns="0" bIns="0" rtlCol="0" anchor="t"/>
          <a:lstStyle/>
          <a:p>
            <a:pPr indent="0" marL="0">
              <a:buNone/>
            </a:pPr>
            <a:r>
              <a:rPr lang="en-US" sz="4400" b="1" dirty="0">
                <a:solidFill>
                  <a:schemeClr val="accent3"/>
                </a:solidFill>
                <a:latin typeface="Cambria" pitchFamily="34" charset="0"/>
                <a:ea typeface="Cambria" pitchFamily="34" charset="-122"/>
                <a:cs typeface="Cambria" pitchFamily="34" charset="-120"/>
              </a:rPr>
              <a:t>60</a:t>
            </a:r>
            <a:endParaRPr lang="en-US" sz="4400" dirty="0"/>
          </a:p>
        </p:txBody>
      </p:sp>
      <p:sp>
        <p:nvSpPr>
          <p:cNvPr id="9" name="Text 6"/>
          <p:cNvSpPr txBox="1"/>
          <p:nvPr/>
        </p:nvSpPr>
        <p:spPr>
          <a:xfrm>
            <a:off x="9921240" y="3337560"/>
            <a:ext cx="1463040" cy="365760"/>
          </a:xfrm>
          <a:prstGeom prst="rect">
            <a:avLst/>
          </a:prstGeom>
          <a:noFill/>
          <a:ln/>
        </p:spPr>
        <p:txBody>
          <a:bodyPr wrap="square" lIns="0" tIns="0" rIns="0" bIns="0" rtlCol="0" anchor="t"/>
          <a:lstStyle/>
          <a:p>
            <a:pPr indent="0" marL="0">
              <a:buNone/>
            </a:pPr>
            <a:r>
              <a:rPr lang="en-US" sz="1400" dirty="0">
                <a:solidFill>
                  <a:schemeClr val="bg1"/>
                </a:solidFill>
              </a:rPr>
              <a:t>test patients</a:t>
            </a:r>
            <a:endParaRPr lang="en-US" sz="1400" dirty="0"/>
          </a:p>
        </p:txBody>
      </p:sp>
      <p:sp>
        <p:nvSpPr>
          <p:cNvPr id="10" name="Text 7"/>
          <p:cNvSpPr txBox="1"/>
          <p:nvPr/>
        </p:nvSpPr>
        <p:spPr>
          <a:xfrm>
            <a:off x="8183880" y="3886200"/>
            <a:ext cx="3200400" cy="1920240"/>
          </a:xfrm>
          <a:prstGeom prst="rect">
            <a:avLst/>
          </a:prstGeom>
          <a:noFill/>
          <a:ln/>
        </p:spPr>
        <p:txBody>
          <a:bodyPr wrap="square" lIns="0" tIns="0" rIns="0" bIns="0" rtlCol="0" anchor="t"/>
          <a:lstStyle/>
          <a:p>
            <a:pPr indent="0" marL="0">
              <a:buNone/>
            </a:pPr>
            <a:r>
              <a:rPr lang="en-US" sz="1400" dirty="0">
                <a:solidFill>
                  <a:schemeClr val="bg2"/>
                </a:solidFill>
              </a:rPr>
              <a:t>GroupShuffleSplit by patient, never by row, checked by a unit test. Evaluated on 227,025 test moments where glucose is still ≤ 180, so the model must predict an upcoming spike.</a:t>
            </a:r>
            <a:endParaRPr lang="en-US" sz="14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Unseen patients: far better than the naive rule</a:t>
            </a:r>
            <a:endParaRPr lang="en-US" sz="3600" dirty="0"/>
          </a:p>
        </p:txBody>
      </p:sp>
      <p:graphicFrame>
        <p:nvGraphicFramePr>
          <p:cNvPr id="3" name="Chart 0" descr=""/>
          <p:cNvGraphicFramePr/>
          <p:nvPr/>
        </p:nvGraphicFramePr>
        <p:xfrm>
          <a:off x="548640" y="1325880"/>
          <a:ext cx="6035040" cy="4754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086600" y="1325880"/>
            <a:ext cx="4480560" cy="868680"/>
          </a:xfrm>
          <a:prstGeom prst="rect">
            <a:avLst/>
          </a:prstGeom>
          <a:noFill/>
          <a:ln/>
        </p:spPr>
        <p:txBody>
          <a:bodyPr wrap="square" lIns="0" tIns="0" rIns="0" bIns="0" rtlCol="0" anchor="b"/>
          <a:lstStyle/>
          <a:p>
            <a:pPr indent="0" marL="0">
              <a:buNone/>
            </a:pPr>
            <a:r>
              <a:rPr lang="en-US" sz="5400" b="1" dirty="0">
                <a:solidFill>
                  <a:schemeClr val="accent1"/>
                </a:solidFill>
                <a:latin typeface="Cambria" pitchFamily="34" charset="0"/>
                <a:ea typeface="Cambria" pitchFamily="34" charset="-122"/>
                <a:cs typeface="Cambria" pitchFamily="34" charset="-120"/>
              </a:rPr>
              <a:t>95%</a:t>
            </a:r>
            <a:endParaRPr lang="en-US" sz="5400" dirty="0"/>
          </a:p>
        </p:txBody>
      </p:sp>
      <p:sp>
        <p:nvSpPr>
          <p:cNvPr id="5" name="Text 2"/>
          <p:cNvSpPr txBox="1"/>
          <p:nvPr/>
        </p:nvSpPr>
        <p:spPr>
          <a:xfrm>
            <a:off x="7086600" y="2240280"/>
            <a:ext cx="4480560" cy="685800"/>
          </a:xfrm>
          <a:prstGeom prst="rect">
            <a:avLst/>
          </a:prstGeom>
          <a:noFill/>
          <a:ln/>
        </p:spPr>
        <p:txBody>
          <a:bodyPr wrap="square" lIns="0" tIns="0" rIns="0" bIns="0" rtlCol="0" anchor="t"/>
          <a:lstStyle/>
          <a:p>
            <a:pPr indent="0" marL="0">
              <a:buNone/>
            </a:pPr>
            <a:r>
              <a:rPr lang="en-US" sz="1500" dirty="0">
                <a:solidFill>
                  <a:schemeClr val="tx1"/>
                </a:solidFill>
              </a:rPr>
              <a:t>of spike events alerted in advance (1,219 / 1,282)</a:t>
            </a:r>
            <a:endParaRPr lang="en-US" sz="1500" dirty="0"/>
          </a:p>
        </p:txBody>
      </p:sp>
      <p:sp>
        <p:nvSpPr>
          <p:cNvPr id="6" name="Text 3"/>
          <p:cNvSpPr txBox="1"/>
          <p:nvPr/>
        </p:nvSpPr>
        <p:spPr>
          <a:xfrm>
            <a:off x="7086600" y="2971800"/>
            <a:ext cx="4480560" cy="868680"/>
          </a:xfrm>
          <a:prstGeom prst="rect">
            <a:avLst/>
          </a:prstGeom>
          <a:noFill/>
          <a:ln/>
        </p:spPr>
        <p:txBody>
          <a:bodyPr wrap="square" lIns="0" tIns="0" rIns="0" bIns="0" rtlCol="0" anchor="b"/>
          <a:lstStyle/>
          <a:p>
            <a:pPr indent="0" marL="0">
              <a:buNone/>
            </a:pPr>
            <a:r>
              <a:rPr lang="en-US" sz="5400" b="1" dirty="0">
                <a:solidFill>
                  <a:schemeClr val="accent2"/>
                </a:solidFill>
                <a:latin typeface="Cambria" pitchFamily="34" charset="0"/>
                <a:ea typeface="Cambria" pitchFamily="34" charset="-122"/>
                <a:cs typeface="Cambria" pitchFamily="34" charset="-120"/>
              </a:rPr>
              <a:t>95 min</a:t>
            </a:r>
            <a:endParaRPr lang="en-US" sz="5400" dirty="0"/>
          </a:p>
        </p:txBody>
      </p:sp>
      <p:sp>
        <p:nvSpPr>
          <p:cNvPr id="7" name="Text 4"/>
          <p:cNvSpPr txBox="1"/>
          <p:nvPr/>
        </p:nvSpPr>
        <p:spPr>
          <a:xfrm>
            <a:off x="7086600" y="3886200"/>
            <a:ext cx="4480560" cy="685800"/>
          </a:xfrm>
          <a:prstGeom prst="rect">
            <a:avLst/>
          </a:prstGeom>
          <a:noFill/>
          <a:ln/>
        </p:spPr>
        <p:txBody>
          <a:bodyPr wrap="square" lIns="0" tIns="0" rIns="0" bIns="0" rtlCol="0" anchor="t"/>
          <a:lstStyle/>
          <a:p>
            <a:pPr indent="0" marL="0">
              <a:buNone/>
            </a:pPr>
            <a:r>
              <a:rPr lang="en-US" sz="1500" dirty="0">
                <a:solidFill>
                  <a:schemeClr val="tx1"/>
                </a:solidFill>
              </a:rPr>
              <a:t>median warning before glucose crosses 180</a:t>
            </a:r>
            <a:endParaRPr lang="en-US" sz="1500" dirty="0"/>
          </a:p>
        </p:txBody>
      </p:sp>
      <p:sp>
        <p:nvSpPr>
          <p:cNvPr id="8" name="Text 5"/>
          <p:cNvSpPr txBox="1"/>
          <p:nvPr/>
        </p:nvSpPr>
        <p:spPr>
          <a:xfrm>
            <a:off x="7086600" y="4617720"/>
            <a:ext cx="4480560" cy="868680"/>
          </a:xfrm>
          <a:prstGeom prst="rect">
            <a:avLst/>
          </a:prstGeom>
          <a:noFill/>
          <a:ln/>
        </p:spPr>
        <p:txBody>
          <a:bodyPr wrap="square" lIns="0" tIns="0" rIns="0" bIns="0" rtlCol="0" anchor="b"/>
          <a:lstStyle/>
          <a:p>
            <a:pPr indent="0" marL="0">
              <a:buNone/>
            </a:pPr>
            <a:r>
              <a:rPr lang="en-US" sz="5400" b="1" dirty="0">
                <a:solidFill>
                  <a:schemeClr val="accent4"/>
                </a:solidFill>
                <a:latin typeface="Cambria" pitchFamily="34" charset="0"/>
                <a:ea typeface="Cambria" pitchFamily="34" charset="-122"/>
                <a:cs typeface="Cambria" pitchFamily="34" charset="-120"/>
              </a:rPr>
              <a:t>0.66</a:t>
            </a:r>
            <a:endParaRPr lang="en-US" sz="5400" dirty="0"/>
          </a:p>
        </p:txBody>
      </p:sp>
      <p:sp>
        <p:nvSpPr>
          <p:cNvPr id="9" name="Text 6"/>
          <p:cNvSpPr txBox="1"/>
          <p:nvPr/>
        </p:nvSpPr>
        <p:spPr>
          <a:xfrm>
            <a:off x="7086600" y="5532120"/>
            <a:ext cx="4480560" cy="685800"/>
          </a:xfrm>
          <a:prstGeom prst="rect">
            <a:avLst/>
          </a:prstGeom>
          <a:noFill/>
          <a:ln/>
        </p:spPr>
        <p:txBody>
          <a:bodyPr wrap="square" lIns="0" tIns="0" rIns="0" bIns="0" rtlCol="0" anchor="t"/>
          <a:lstStyle/>
          <a:p>
            <a:pPr indent="0" marL="0">
              <a:buNone/>
            </a:pPr>
            <a:r>
              <a:rPr lang="en-US" sz="1500" dirty="0">
                <a:solidFill>
                  <a:schemeClr val="tx1"/>
                </a:solidFill>
              </a:rPr>
              <a:t>recall at 80% precision (baseline: 0.00)</a:t>
            </a:r>
            <a:endParaRPr lang="en-US" sz="15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Every alert comes with reasons a clinician can check</a:t>
            </a:r>
            <a:endParaRPr lang="en-US" sz="3600" dirty="0"/>
          </a:p>
        </p:txBody>
      </p:sp>
      <p:pic>
        <p:nvPicPr>
          <p:cNvPr id="3" name="SHAP summary plot" descr="D:\GlucoTwin_BITMesra\docs\img\shap_summary.png">    </p:cNvPr>
          <p:cNvPicPr>
            <a:picLocks noChangeAspect="1"/>
          </p:cNvPicPr>
          <p:nvPr/>
        </p:nvPicPr>
        <p:blipFill>
          <a:blip r:embed="rId1"/>
          <a:stretch>
            <a:fillRect/>
          </a:stretch>
        </p:blipFill>
        <p:spPr>
          <a:xfrm>
            <a:off x="548640" y="1280160"/>
            <a:ext cx="5029200" cy="4718304"/>
          </a:xfrm>
          <a:prstGeom prst="rect">
            <a:avLst/>
          </a:prstGeom>
        </p:spPr>
      </p:pic>
      <p:sp>
        <p:nvSpPr>
          <p:cNvPr id="4" name="example reason"/>
          <p:cNvSpPr/>
          <p:nvPr/>
        </p:nvSpPr>
        <p:spPr>
          <a:xfrm>
            <a:off x="5989320" y="1417320"/>
            <a:ext cx="5650992" cy="1371600"/>
          </a:xfrm>
          <a:prstGeom prst="roundRect">
            <a:avLst>
              <a:gd name="adj" fmla="val 8000"/>
            </a:avLst>
          </a:prstGeom>
          <a:solidFill>
            <a:schemeClr val="bg2"/>
          </a:solidFill>
          <a:ln/>
        </p:spPr>
      </p:sp>
      <p:sp>
        <p:nvSpPr>
          <p:cNvPr id="5" name="Text 2"/>
          <p:cNvSpPr txBox="1"/>
          <p:nvPr/>
        </p:nvSpPr>
        <p:spPr>
          <a:xfrm>
            <a:off x="6263640" y="1600200"/>
            <a:ext cx="5120640" cy="1051560"/>
          </a:xfrm>
          <a:prstGeom prst="rect">
            <a:avLst/>
          </a:prstGeom>
          <a:noFill/>
          <a:ln/>
        </p:spPr>
        <p:txBody>
          <a:bodyPr wrap="square" lIns="0" tIns="0" rIns="0" bIns="0" rtlCol="0" anchor="t"/>
          <a:lstStyle/>
          <a:p>
            <a:pPr indent="0" marL="0">
              <a:spcAft>
                <a:spcPts val="600"/>
              </a:spcAft>
              <a:buNone/>
            </a:pPr>
            <a:r>
              <a:rPr lang="en-US" sz="1300" dirty="0">
                <a:solidFill>
                  <a:schemeClr val="accent5"/>
                </a:solidFill>
              </a:rPr>
              <a:t>Example reason shown on the dashboard</a:t>
            </a:r>
            <a:endParaRPr lang="en-US" sz="1600" dirty="0"/>
          </a:p>
          <a:p>
            <a:pPr indent="0" marL="0">
              <a:buNone/>
            </a:pPr>
            <a:r>
              <a:rPr lang="en-US" sz="2000" b="1" i="1" dirty="0">
                <a:solidFill>
                  <a:schemeClr val="accent2"/>
                </a:solidFill>
              </a:rPr>
              <a:t>"Ate 105 g carbs, 10 min ago — raises risk"</a:t>
            </a:r>
            <a:endParaRPr lang="en-US" sz="1600" dirty="0"/>
          </a:p>
        </p:txBody>
      </p:sp>
      <p:sp>
        <p:nvSpPr>
          <p:cNvPr id="6" name="Text 3"/>
          <p:cNvSpPr txBox="1"/>
          <p:nvPr/>
        </p:nvSpPr>
        <p:spPr>
          <a:xfrm>
            <a:off x="5989320" y="3063240"/>
            <a:ext cx="5650992" cy="2926080"/>
          </a:xfrm>
          <a:prstGeom prst="rect">
            <a:avLst/>
          </a:prstGeom>
          <a:noFill/>
          <a:ln/>
        </p:spPr>
        <p:txBody>
          <a:bodyPr wrap="square" lIns="0" tIns="0" rIns="0" bIns="0" rtlCol="0" anchor="t"/>
          <a:lstStyle/>
          <a:p>
            <a:pPr indent="0" marL="0">
              <a:spcAft>
                <a:spcPts val="800"/>
              </a:spcAft>
              <a:buNone/>
            </a:pPr>
            <a:r>
              <a:rPr lang="en-US" sz="1900" b="1" dirty="0">
                <a:solidFill>
                  <a:schemeClr val="tx2"/>
                </a:solidFill>
              </a:rPr>
              <a:t>Directions match physiology</a:t>
            </a:r>
            <a:endParaRPr lang="en-US" sz="1600" dirty="0"/>
          </a:p>
          <a:p>
            <a:pPr marL="342900" indent="-342900">
              <a:spcAft>
                <a:spcPts val="600"/>
              </a:spcAft>
              <a:buSzPct val="100000"/>
              <a:buChar char="•"/>
            </a:pPr>
            <a:r>
              <a:rPr lang="en-US" sz="1600" dirty="0">
                <a:solidFill>
                  <a:schemeClr val="tx1"/>
                </a:solidFill>
              </a:rPr>
              <a:t>More carbs, higher HbA1c and higher BMI raise risk</a:t>
            </a:r>
            <a:endParaRPr lang="en-US" sz="1600" dirty="0"/>
          </a:p>
          <a:p>
            <a:pPr marL="342900" indent="-342900">
              <a:spcAft>
                <a:spcPts val="600"/>
              </a:spcAft>
              <a:buSzPct val="100000"/>
              <a:buChar char="•"/>
            </a:pPr>
            <a:r>
              <a:rPr lang="en-US" sz="1600" dirty="0">
                <a:solidFill>
                  <a:schemeClr val="tx1"/>
                </a:solidFill>
              </a:rPr>
              <a:t>Recent walking and better sleep lower it</a:t>
            </a:r>
            <a:endParaRPr lang="en-US" sz="1600" dirty="0"/>
          </a:p>
          <a:p>
            <a:pPr marL="342900" indent="-342900">
              <a:spcAft>
                <a:spcPts val="600"/>
              </a:spcAft>
              <a:buSzPct val="100000"/>
              <a:buChar char="•"/>
            </a:pPr>
            <a:r>
              <a:rPr lang="en-US" sz="1600" dirty="0">
                <a:solidFill>
                  <a:schemeClr val="tx1"/>
                </a:solidFill>
              </a:rPr>
              <a:t>Top drivers: time of day, HbA1c, minutes since meal, steps and carbs in the last hour</a:t>
            </a:r>
            <a:endParaRPr lang="en-US" sz="1600" dirty="0"/>
          </a:p>
          <a:p>
            <a:pPr marL="342900" indent="-342900">
              <a:buSzPct val="100000"/>
              <a:buChar char="•"/>
            </a:pPr>
            <a:r>
              <a:rPr lang="en-US" sz="1600" dirty="0">
                <a:solidFill>
                  <a:schemeClr val="tx1"/>
                </a:solidFill>
              </a:rPr>
              <a:t>Related SHAP features are grouped into the top 3 reasons per prediction</a:t>
            </a:r>
            <a:endParaRPr lang="en-US" sz="16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A walk or a smaller lunch prevents the spike</a:t>
            </a:r>
            <a:endParaRPr lang="en-US" sz="3600" dirty="0"/>
          </a:p>
        </p:txBody>
      </p:sp>
      <p:sp>
        <p:nvSpPr>
          <p:cNvPr id="3" name="patient story"/>
          <p:cNvSpPr/>
          <p:nvPr/>
        </p:nvSpPr>
        <p:spPr>
          <a:xfrm>
            <a:off x="548640" y="1417320"/>
            <a:ext cx="3931920" cy="4526280"/>
          </a:xfrm>
          <a:prstGeom prst="roundRect">
            <a:avLst>
              <a:gd name="adj" fmla="val 2791"/>
            </a:avLst>
          </a:prstGeom>
          <a:solidFill>
            <a:schemeClr val="bg2"/>
          </a:solidFill>
          <a:ln/>
        </p:spPr>
      </p:sp>
      <p:sp>
        <p:nvSpPr>
          <p:cNvPr id="4" name="Text 2"/>
          <p:cNvSpPr txBox="1"/>
          <p:nvPr/>
        </p:nvSpPr>
        <p:spPr>
          <a:xfrm>
            <a:off x="868680" y="1691640"/>
            <a:ext cx="3291840" cy="4114800"/>
          </a:xfrm>
          <a:prstGeom prst="rect">
            <a:avLst/>
          </a:prstGeom>
          <a:noFill/>
          <a:ln/>
        </p:spPr>
        <p:txBody>
          <a:bodyPr wrap="square" lIns="0" tIns="0" rIns="0" bIns="0" rtlCol="0" anchor="t"/>
          <a:lstStyle/>
          <a:p>
            <a:pPr indent="0" marL="0">
              <a:spcAft>
                <a:spcPts val="1000"/>
              </a:spcAft>
              <a:buNone/>
            </a:pPr>
            <a:r>
              <a:rPr lang="en-US" sz="1900" b="1" dirty="0">
                <a:solidFill>
                  <a:schemeClr val="tx2"/>
                </a:solidFill>
              </a:rPr>
              <a:t>Demo patient be33d994</a:t>
            </a:r>
            <a:endParaRPr lang="en-US" sz="1600" dirty="0"/>
          </a:p>
          <a:p>
            <a:pPr indent="0" marL="0">
              <a:spcAft>
                <a:spcPts val="1000"/>
              </a:spcAft>
              <a:buNone/>
            </a:pPr>
            <a:r>
              <a:rPr lang="en-US" sz="1600" dirty="0">
                <a:solidFill>
                  <a:schemeClr val="tx1"/>
                </a:solidFill>
              </a:rPr>
              <a:t>51-year-old woman with T2D, on metformin, BMI 29.3, hypertension</a:t>
            </a:r>
            <a:endParaRPr lang="en-US" sz="1600" dirty="0"/>
          </a:p>
          <a:p>
            <a:pPr indent="0" marL="0">
              <a:spcAft>
                <a:spcPts val="1400"/>
              </a:spcAft>
              <a:buNone/>
            </a:pPr>
            <a:r>
              <a:rPr lang="en-US" sz="1600" dirty="0">
                <a:solidFill>
                  <a:schemeClr val="tx1"/>
                </a:solidFill>
              </a:rPr>
              <a:t>Slept 5.2 h, then ate a 105 g rice-heavy lunch at 13:15</a:t>
            </a:r>
            <a:endParaRPr lang="en-US" sz="1600" dirty="0"/>
          </a:p>
          <a:p>
            <a:pPr indent="0" marL="0">
              <a:buNone/>
            </a:pPr>
            <a:r>
              <a:rPr lang="en-US" sz="1400" dirty="0">
                <a:solidFill>
                  <a:schemeClr val="accent5"/>
                </a:solidFill>
              </a:rPr>
              <a:t>Model risk at 13:25</a:t>
            </a:r>
            <a:endParaRPr lang="en-US" sz="1600" dirty="0"/>
          </a:p>
          <a:p>
            <a:pPr indent="0" marL="0">
              <a:buNone/>
            </a:pPr>
            <a:r>
              <a:rPr lang="en-US" sz="5400" b="1" dirty="0">
                <a:solidFill>
                  <a:schemeClr val="accent2"/>
                </a:solidFill>
                <a:latin typeface="Cambria" pitchFamily="34" charset="0"/>
                <a:ea typeface="Cambria" pitchFamily="34" charset="-122"/>
                <a:cs typeface="Cambria" pitchFamily="34" charset="-120"/>
              </a:rPr>
              <a:t>98%</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846320" y="1417320"/>
          <a:ext cx="6793992" cy="914400"/>
        </p:xfrm>
        <a:graphic>
          <a:graphicData uri="http://schemas.openxmlformats.org/drawingml/2006/table">
            <a:tbl>
              <a:tblPr/>
              <a:tblGrid>
                <a:gridCol w="2971800"/>
                <a:gridCol w="1325880"/>
                <a:gridCol w="1399032"/>
                <a:gridCol w="1097280"/>
              </a:tblGrid>
              <a:tr h="566928">
                <a:tc>
                  <a:txBody>
                    <a:bodyPr/>
                    <a:lstStyle/>
                    <a:p>
                      <a:pPr indent="0" marL="0">
                        <a:buNone/>
                      </a:pPr>
                      <a:r>
                        <a:rPr lang="en-US" sz="1500" b="1" dirty="0">
                          <a:solidFill>
                            <a:schemeClr val="bg1"/>
                          </a:solidFill>
                        </a:rPr>
                        <a:t>Twin re-simulation of next 2 h</a:t>
                      </a:r>
                      <a:endParaRPr lang="en-US" sz="1500" dirty="0"/>
                    </a:p>
                  </a:txBody>
                  <a:tcPr marL="109728" marR="109728" marT="54864" marB="54864"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Spike prob.</a:t>
                      </a:r>
                      <a:endParaRPr lang="en-US" sz="1500" dirty="0"/>
                    </a:p>
                  </a:txBody>
                  <a:tcPr marL="109728" marR="109728" marT="54864" marB="54864"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Peak</a:t>
                      </a:r>
                      <a:endParaRPr lang="en-US" sz="1500" dirty="0"/>
                    </a:p>
                  </a:txBody>
                  <a:tcPr marL="109728" marR="109728" marT="54864" marB="54864"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Min &gt; 180</a:t>
                      </a:r>
                      <a:endParaRPr lang="en-US" sz="1500" dirty="0"/>
                    </a:p>
                  </a:txBody>
                  <a:tcPr marL="109728" marR="109728" marT="54864" marB="54864"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chemeClr val="tx2"/>
                    </a:solidFill>
                  </a:tcPr>
                </a:tc>
              </a:tr>
              <a:tr h="566928">
                <a:tc>
                  <a:txBody>
                    <a:bodyPr/>
                    <a:lstStyle/>
                    <a:p>
                      <a:pPr indent="0" marL="0">
                        <a:buNone/>
                      </a:pPr>
                      <a:r>
                        <a:rPr lang="en-US" sz="1600" dirty="0">
                          <a:solidFill>
                            <a:schemeClr val="tx1"/>
                          </a:solidFill>
                        </a:rPr>
                        <a:t>As usual</a:t>
                      </a:r>
                      <a:endParaRPr lang="en-US" sz="1600" dirty="0"/>
                    </a:p>
                  </a:txBody>
                  <a:tcPr marL="109728" marR="109728" marT="54864" marB="54864"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tcPr>
                </a:tc>
                <a:tc>
                  <a:txBody>
                    <a:bodyPr/>
                    <a:lstStyle/>
                    <a:p>
                      <a:pPr indent="0" marL="0">
                        <a:buNone/>
                      </a:pPr>
                      <a:r>
                        <a:rPr lang="en-US" sz="1600" b="1" dirty="0">
                          <a:solidFill>
                            <a:schemeClr val="accent2"/>
                          </a:solidFill>
                        </a:rPr>
                        <a:t>100%</a:t>
                      </a:r>
                      <a:endParaRPr lang="en-US" sz="1600" dirty="0"/>
                    </a:p>
                  </a:txBody>
                  <a:tcPr marL="109728" marR="109728" marT="54864" marB="54864"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tcPr>
                </a:tc>
                <a:tc>
                  <a:txBody>
                    <a:bodyPr/>
                    <a:lstStyle/>
                    <a:p>
                      <a:pPr indent="0" marL="0">
                        <a:buNone/>
                      </a:pPr>
                      <a:r>
                        <a:rPr lang="en-US" sz="1600" b="1" dirty="0">
                          <a:solidFill>
                            <a:schemeClr val="accent2"/>
                          </a:solidFill>
                        </a:rPr>
                        <a:t>198 mg/dL</a:t>
                      </a:r>
                      <a:endParaRPr lang="en-US" sz="1600" dirty="0"/>
                    </a:p>
                  </a:txBody>
                  <a:tcPr marL="109728" marR="109728" marT="54864" marB="54864"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tcPr>
                </a:tc>
                <a:tc>
                  <a:txBody>
                    <a:bodyPr/>
                    <a:lstStyle/>
                    <a:p>
                      <a:pPr indent="0" marL="0">
                        <a:buNone/>
                      </a:pPr>
                      <a:r>
                        <a:rPr lang="en-US" sz="1600" b="1" dirty="0">
                          <a:solidFill>
                            <a:schemeClr val="accent2"/>
                          </a:solidFill>
                        </a:rPr>
                        <a:t>40</a:t>
                      </a:r>
                      <a:endParaRPr lang="en-US" sz="1600" dirty="0"/>
                    </a:p>
                  </a:txBody>
                  <a:tcPr marL="109728" marR="109728" marT="54864" marB="54864"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tcPr>
                </a:tc>
              </a:tr>
              <a:tr h="566928">
                <a:tc>
                  <a:txBody>
                    <a:bodyPr/>
                    <a:lstStyle/>
                    <a:p>
                      <a:pPr indent="0" marL="0">
                        <a:buNone/>
                      </a:pPr>
                      <a:r>
                        <a:rPr lang="en-US" sz="1600" dirty="0">
                          <a:solidFill>
                            <a:schemeClr val="tx1"/>
                          </a:solidFill>
                        </a:rPr>
                        <a:t>20-minute post-meal walk</a:t>
                      </a:r>
                      <a:endParaRPr lang="en-US" sz="1600" dirty="0"/>
                    </a:p>
                  </a:txBody>
                  <a:tcPr marL="109728" marR="109728" marT="54864" marB="54864"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tcPr>
                </a:tc>
                <a:tc>
                  <a:txBody>
                    <a:bodyPr/>
                    <a:lstStyle/>
                    <a:p>
                      <a:pPr indent="0" marL="0">
                        <a:buNone/>
                      </a:pPr>
                      <a:r>
                        <a:rPr lang="en-US" sz="1600" dirty="0">
                          <a:solidFill>
                            <a:schemeClr val="tx1"/>
                          </a:solidFill>
                        </a:rPr>
                        <a:t>36%</a:t>
                      </a:r>
                      <a:endParaRPr lang="en-US" sz="1600" dirty="0"/>
                    </a:p>
                  </a:txBody>
                  <a:tcPr marL="109728" marR="109728" marT="54864" marB="54864"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tcPr>
                </a:tc>
                <a:tc>
                  <a:txBody>
                    <a:bodyPr/>
                    <a:lstStyle/>
                    <a:p>
                      <a:pPr indent="0" marL="0">
                        <a:buNone/>
                      </a:pPr>
                      <a:r>
                        <a:rPr lang="en-US" sz="1600" dirty="0">
                          <a:solidFill>
                            <a:schemeClr val="tx1"/>
                          </a:solidFill>
                        </a:rPr>
                        <a:t>173 mg/dL</a:t>
                      </a:r>
                      <a:endParaRPr lang="en-US" sz="1600" dirty="0"/>
                    </a:p>
                  </a:txBody>
                  <a:tcPr marL="109728" marR="109728" marT="54864" marB="54864"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tcPr>
                </a:tc>
                <a:tc>
                  <a:txBody>
                    <a:bodyPr/>
                    <a:lstStyle/>
                    <a:p>
                      <a:pPr indent="0" marL="0">
                        <a:buNone/>
                      </a:pPr>
                      <a:r>
                        <a:rPr lang="en-US" sz="1600" b="1" dirty="0">
                          <a:solidFill>
                            <a:schemeClr val="accent6"/>
                          </a:solidFill>
                        </a:rPr>
                        <a:t>0</a:t>
                      </a:r>
                      <a:endParaRPr lang="en-US" sz="1600" dirty="0"/>
                    </a:p>
                  </a:txBody>
                  <a:tcPr marL="109728" marR="109728" marT="54864" marB="54864"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tcPr>
                </a:tc>
              </a:tr>
              <a:tr h="566928">
                <a:tc>
                  <a:txBody>
                    <a:bodyPr/>
                    <a:lstStyle/>
                    <a:p>
                      <a:pPr indent="0" marL="0">
                        <a:buNone/>
                      </a:pPr>
                      <a:r>
                        <a:rPr lang="en-US" sz="1600" dirty="0">
                          <a:solidFill>
                            <a:schemeClr val="tx1"/>
                          </a:solidFill>
                        </a:rPr>
                        <a:t>60 g lunch instead of 105 g</a:t>
                      </a:r>
                      <a:endParaRPr lang="en-US" sz="1600" dirty="0"/>
                    </a:p>
                  </a:txBody>
                  <a:tcPr marL="109728" marR="109728" marT="54864" marB="54864"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tcPr>
                </a:tc>
                <a:tc>
                  <a:txBody>
                    <a:bodyPr/>
                    <a:lstStyle/>
                    <a:p>
                      <a:pPr indent="0" marL="0">
                        <a:buNone/>
                      </a:pPr>
                      <a:r>
                        <a:rPr lang="en-US" sz="1600" b="1" dirty="0">
                          <a:solidFill>
                            <a:schemeClr val="accent6"/>
                          </a:solidFill>
                        </a:rPr>
                        <a:t>0%</a:t>
                      </a:r>
                      <a:endParaRPr lang="en-US" sz="1600" dirty="0"/>
                    </a:p>
                  </a:txBody>
                  <a:tcPr marL="109728" marR="109728" marT="54864" marB="54864"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tcPr>
                </a:tc>
                <a:tc>
                  <a:txBody>
                    <a:bodyPr/>
                    <a:lstStyle/>
                    <a:p>
                      <a:pPr indent="0" marL="0">
                        <a:buNone/>
                      </a:pPr>
                      <a:r>
                        <a:rPr lang="en-US" sz="1600" dirty="0">
                          <a:solidFill>
                            <a:schemeClr val="tx1"/>
                          </a:solidFill>
                        </a:rPr>
                        <a:t>160 mg/dL</a:t>
                      </a:r>
                      <a:endParaRPr lang="en-US" sz="1600" dirty="0"/>
                    </a:p>
                  </a:txBody>
                  <a:tcPr marL="109728" marR="109728" marT="54864" marB="54864"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tcPr>
                </a:tc>
                <a:tc>
                  <a:txBody>
                    <a:bodyPr/>
                    <a:lstStyle/>
                    <a:p>
                      <a:pPr indent="0" marL="0">
                        <a:buNone/>
                      </a:pPr>
                      <a:r>
                        <a:rPr lang="en-US" sz="1600" b="1" dirty="0">
                          <a:solidFill>
                            <a:schemeClr val="accent6"/>
                          </a:solidFill>
                        </a:rPr>
                        <a:t>0</a:t>
                      </a:r>
                      <a:endParaRPr lang="en-US" sz="1600" dirty="0"/>
                    </a:p>
                  </a:txBody>
                  <a:tcPr marL="109728" marR="109728" marT="54864" marB="54864"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tcPr>
                </a:tc>
              </a:tr>
              <a:tr h="566928">
                <a:tc>
                  <a:txBody>
                    <a:bodyPr/>
                    <a:lstStyle/>
                    <a:p>
                      <a:pPr indent="0" marL="0">
                        <a:buNone/>
                      </a:pPr>
                      <a:r>
                        <a:rPr lang="en-US" sz="1600" b="1" dirty="0">
                          <a:solidFill>
                            <a:schemeClr val="tx1"/>
                          </a:solidFill>
                        </a:rPr>
                        <a:t>Walk and 60 g lunch</a:t>
                      </a:r>
                      <a:endParaRPr lang="en-US" sz="1600" dirty="0"/>
                    </a:p>
                  </a:txBody>
                  <a:tcPr marL="109728" marR="109728" marT="54864" marB="54864"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tcPr>
                </a:tc>
                <a:tc>
                  <a:txBody>
                    <a:bodyPr/>
                    <a:lstStyle/>
                    <a:p>
                      <a:pPr indent="0" marL="0">
                        <a:buNone/>
                      </a:pPr>
                      <a:r>
                        <a:rPr lang="en-US" sz="1600" b="1" dirty="0">
                          <a:solidFill>
                            <a:schemeClr val="accent6"/>
                          </a:solidFill>
                        </a:rPr>
                        <a:t>0%</a:t>
                      </a:r>
                      <a:endParaRPr lang="en-US" sz="1600" dirty="0"/>
                    </a:p>
                  </a:txBody>
                  <a:tcPr marL="109728" marR="109728" marT="54864" marB="54864"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tcPr>
                </a:tc>
                <a:tc>
                  <a:txBody>
                    <a:bodyPr/>
                    <a:lstStyle/>
                    <a:p>
                      <a:pPr indent="0" marL="0">
                        <a:buNone/>
                      </a:pPr>
                      <a:r>
                        <a:rPr lang="en-US" sz="1600" b="1" dirty="0">
                          <a:solidFill>
                            <a:schemeClr val="accent6"/>
                          </a:solidFill>
                        </a:rPr>
                        <a:t>137 mg/dL</a:t>
                      </a:r>
                      <a:endParaRPr lang="en-US" sz="1600" dirty="0"/>
                    </a:p>
                  </a:txBody>
                  <a:tcPr marL="109728" marR="109728" marT="54864" marB="54864"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tcPr>
                </a:tc>
                <a:tc>
                  <a:txBody>
                    <a:bodyPr/>
                    <a:lstStyle/>
                    <a:p>
                      <a:pPr indent="0" marL="0">
                        <a:buNone/>
                      </a:pPr>
                      <a:r>
                        <a:rPr lang="en-US" sz="1600" b="1" dirty="0">
                          <a:solidFill>
                            <a:schemeClr val="accent6"/>
                          </a:solidFill>
                        </a:rPr>
                        <a:t>0</a:t>
                      </a:r>
                      <a:endParaRPr lang="en-US" sz="1600" dirty="0"/>
                    </a:p>
                  </a:txBody>
                  <a:tcPr marL="109728" marR="109728" marT="54864" marB="54864"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tcPr>
                </a:tc>
              </a:tr>
            </a:tbl>
          </a:graphicData>
        </a:graphic>
      </p:graphicFrame>
      <p:sp>
        <p:nvSpPr>
          <p:cNvPr id="6" name="population effect"/>
          <p:cNvSpPr/>
          <p:nvPr/>
        </p:nvSpPr>
        <p:spPr>
          <a:xfrm>
            <a:off x="4846320" y="4526280"/>
            <a:ext cx="6793992" cy="1417320"/>
          </a:xfrm>
          <a:prstGeom prst="roundRect">
            <a:avLst>
              <a:gd name="adj" fmla="val 7742"/>
            </a:avLst>
          </a:prstGeom>
          <a:solidFill>
            <a:schemeClr val="bg2"/>
          </a:solidFill>
          <a:ln/>
        </p:spPr>
      </p:sp>
      <p:sp>
        <p:nvSpPr>
          <p:cNvPr id="7" name="Text 4"/>
          <p:cNvSpPr txBox="1"/>
          <p:nvPr/>
        </p:nvSpPr>
        <p:spPr>
          <a:xfrm>
            <a:off x="5120640" y="4709160"/>
            <a:ext cx="6263640" cy="1097280"/>
          </a:xfrm>
          <a:prstGeom prst="rect">
            <a:avLst/>
          </a:prstGeom>
          <a:noFill/>
          <a:ln/>
        </p:spPr>
        <p:txBody>
          <a:bodyPr wrap="square" lIns="0" tIns="0" rIns="0" bIns="0" rtlCol="0" anchor="ctr"/>
          <a:lstStyle/>
          <a:p>
            <a:pPr indent="0" marL="0">
              <a:buNone/>
            </a:pPr>
            <a:r>
              <a:rPr lang="en-US" sz="1700" dirty="0">
                <a:solidFill>
                  <a:schemeClr val="tx1"/>
                </a:solidFill>
              </a:rPr>
              <a:t>Across all 238 patients' lunches, a 20-minute walk lowers the simulated peak by </a:t>
            </a:r>
            <a:pPr indent="0" marL="0">
              <a:buNone/>
            </a:pPr>
            <a:r>
              <a:rPr lang="en-US" sz="1700" b="1" dirty="0">
                <a:solidFill>
                  <a:schemeClr val="accent1"/>
                </a:solidFill>
              </a:rPr>
              <a:t>24 mg/dL</a:t>
            </a:r>
            <a:pPr indent="0" marL="0">
              <a:buNone/>
            </a:pPr>
            <a:r>
              <a:rPr lang="en-US" sz="1700" dirty="0">
                <a:solidFill>
                  <a:schemeClr val="tx1"/>
                </a:solidFill>
              </a:rPr>
              <a:t> on average and spike probability from </a:t>
            </a:r>
            <a:pPr indent="0" marL="0">
              <a:buNone/>
            </a:pPr>
            <a:r>
              <a:rPr lang="en-US" sz="1700" b="1" dirty="0">
                <a:solidFill>
                  <a:schemeClr val="accent1"/>
                </a:solidFill>
              </a:rPr>
              <a:t>74% to 33%</a:t>
            </a:r>
            <a:endParaRPr lang="en-US" sz="17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Dashboard: CGM, twin projection and what-if</a:t>
            </a:r>
            <a:endParaRPr lang="en-US" sz="3600" dirty="0"/>
          </a:p>
        </p:txBody>
      </p:sp>
      <p:pic>
        <p:nvPicPr>
          <p:cNvPr id="3" name="Dashboard chart" descr="D:\GlucoTwin_BITMesra\docs\img\dashboard_demo_chart.png">    </p:cNvPr>
          <p:cNvPicPr>
            <a:picLocks noChangeAspect="1"/>
          </p:cNvPicPr>
          <p:nvPr/>
        </p:nvPicPr>
        <p:blipFill>
          <a:blip r:embed="rId1"/>
          <a:stretch>
            <a:fillRect/>
          </a:stretch>
        </p:blipFill>
        <p:spPr>
          <a:xfrm>
            <a:off x="1252728" y="1234440"/>
            <a:ext cx="9692640" cy="4471416"/>
          </a:xfrm>
          <a:prstGeom prst="rect">
            <a:avLst/>
          </a:prstGeom>
        </p:spPr>
      </p:pic>
      <p:sp>
        <p:nvSpPr>
          <p:cNvPr id="4" name="Text 1"/>
          <p:cNvSpPr txBox="1"/>
          <p:nvPr/>
        </p:nvSpPr>
        <p:spPr>
          <a:xfrm>
            <a:off x="548640" y="5806440"/>
            <a:ext cx="11091672" cy="411480"/>
          </a:xfrm>
          <a:prstGeom prst="rect">
            <a:avLst/>
          </a:prstGeom>
          <a:noFill/>
          <a:ln/>
        </p:spPr>
        <p:txBody>
          <a:bodyPr wrap="square" lIns="0" tIns="0" rIns="0" bIns="0" rtlCol="0" anchor="t"/>
          <a:lstStyle/>
          <a:p>
            <a:pPr algn="ctr" indent="0" marL="0">
              <a:buNone/>
            </a:pPr>
            <a:r>
              <a:rPr lang="en-US" sz="1400" b="1" dirty="0">
                <a:solidFill>
                  <a:schemeClr val="accent4"/>
                </a:solidFill>
              </a:rPr>
              <a:t>Blue: </a:t>
            </a:r>
            <a:pPr algn="ctr" indent="0" marL="0">
              <a:buNone/>
            </a:pPr>
            <a:r>
              <a:rPr lang="en-US" sz="1400" dirty="0">
                <a:solidFill>
                  <a:schemeClr val="tx1"/>
                </a:solidFill>
              </a:rPr>
              <a:t>observed CGM  ·  </a:t>
            </a:r>
            <a:pPr algn="ctr" indent="0" marL="0">
              <a:buNone/>
            </a:pPr>
            <a:r>
              <a:rPr lang="en-US" sz="1400" b="1" dirty="0">
                <a:solidFill>
                  <a:schemeClr val="tx2"/>
                </a:solidFill>
              </a:rPr>
              <a:t>Dotted: </a:t>
            </a:r>
            <a:pPr algn="ctr" indent="0" marL="0">
              <a:buNone/>
            </a:pPr>
            <a:r>
              <a:rPr lang="en-US" sz="1400" dirty="0">
                <a:solidFill>
                  <a:schemeClr val="tx1"/>
                </a:solidFill>
              </a:rPr>
              <a:t>twin projection as usual (peaks at 198)  ·  </a:t>
            </a:r>
            <a:pPr algn="ctr" indent="0" marL="0">
              <a:buNone/>
            </a:pPr>
            <a:r>
              <a:rPr lang="en-US" sz="1400" b="1" dirty="0">
                <a:solidFill>
                  <a:schemeClr val="accent6"/>
                </a:solidFill>
              </a:rPr>
              <a:t>Green: </a:t>
            </a:r>
            <a:pPr algn="ctr" indent="0" marL="0">
              <a:buNone/>
            </a:pPr>
            <a:r>
              <a:rPr lang="en-US" sz="1400" dirty="0">
                <a:solidFill>
                  <a:schemeClr val="tx1"/>
                </a:solidFill>
              </a:rPr>
              <a:t>what-if with walk + smaller lunch  ·  </a:t>
            </a:r>
            <a:pPr algn="ctr" indent="0" marL="0">
              <a:buNone/>
            </a:pPr>
            <a:r>
              <a:rPr lang="en-US" sz="1400" b="1" dirty="0">
                <a:solidFill>
                  <a:schemeClr val="accent2"/>
                </a:solidFill>
              </a:rPr>
              <a:t>Red band: </a:t>
            </a:r>
            <a:pPr algn="ctr" indent="0" marL="0">
              <a:buNone/>
            </a:pPr>
            <a:r>
              <a:rPr lang="en-US" sz="1400" dirty="0">
                <a:solidFill>
                  <a:schemeClr val="tx1"/>
                </a:solidFill>
              </a:rPr>
              <a:t>predicted risk</a:t>
            </a:r>
            <a:endParaRPr lang="en-US" sz="14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Healthcare use case: triage now, coach with evidence</a:t>
            </a:r>
            <a:endParaRPr lang="en-US" sz="3600" dirty="0"/>
          </a:p>
        </p:txBody>
      </p:sp>
      <p:sp>
        <p:nvSpPr>
          <p:cNvPr id="3" name="step Rank"/>
          <p:cNvSpPr/>
          <p:nvPr/>
        </p:nvSpPr>
        <p:spPr>
          <a:xfrm>
            <a:off x="548640" y="1463040"/>
            <a:ext cx="2606040" cy="3017520"/>
          </a:xfrm>
          <a:prstGeom prst="roundRect">
            <a:avLst>
              <a:gd name="adj" fmla="val 4211"/>
            </a:avLst>
          </a:prstGeom>
          <a:solidFill>
            <a:schemeClr val="bg2"/>
          </a:solidFill>
          <a:ln/>
        </p:spPr>
      </p:sp>
      <p:sp>
        <p:nvSpPr>
          <p:cNvPr id="4" name="badge 1"/>
          <p:cNvSpPr/>
          <p:nvPr/>
        </p:nvSpPr>
        <p:spPr>
          <a:xfrm>
            <a:off x="822960" y="1737360"/>
            <a:ext cx="594360" cy="594360"/>
          </a:xfrm>
          <a:prstGeom prst="ellipse">
            <a:avLst/>
          </a:prstGeom>
          <a:solidFill>
            <a:schemeClr val="accent1"/>
          </a:solidFill>
          <a:ln/>
        </p:spPr>
      </p:sp>
      <p:sp>
        <p:nvSpPr>
          <p:cNvPr id="5" name="Text 3"/>
          <p:cNvSpPr txBox="1"/>
          <p:nvPr/>
        </p:nvSpPr>
        <p:spPr>
          <a:xfrm>
            <a:off x="822960" y="173736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4"/>
          <p:cNvSpPr txBox="1"/>
          <p:nvPr/>
        </p:nvSpPr>
        <p:spPr>
          <a:xfrm>
            <a:off x="822960" y="2514600"/>
            <a:ext cx="210312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Rank</a:t>
            </a:r>
            <a:endParaRPr lang="en-US" sz="2200" dirty="0"/>
          </a:p>
        </p:txBody>
      </p:sp>
      <p:sp>
        <p:nvSpPr>
          <p:cNvPr id="7" name="Text 5"/>
          <p:cNvSpPr txBox="1"/>
          <p:nvPr/>
        </p:nvSpPr>
        <p:spPr>
          <a:xfrm>
            <a:off x="822960" y="3063240"/>
            <a:ext cx="2103120" cy="1828800"/>
          </a:xfrm>
          <a:prstGeom prst="rect">
            <a:avLst/>
          </a:prstGeom>
          <a:noFill/>
          <a:ln/>
        </p:spPr>
        <p:txBody>
          <a:bodyPr wrap="square" lIns="0" tIns="0" rIns="0" bIns="0" rtlCol="0" anchor="t"/>
          <a:lstStyle/>
          <a:p>
            <a:pPr indent="0" marL="0">
              <a:buNone/>
            </a:pPr>
            <a:r>
              <a:rPr lang="en-US" sz="1500" dirty="0">
                <a:solidFill>
                  <a:schemeClr val="tx1"/>
                </a:solidFill>
              </a:rPr>
              <a:t>Dashboard sorts all patients by current spike risk, so the care team sees who needs a nudge now</a:t>
            </a:r>
            <a:endParaRPr lang="en-US" sz="1500" dirty="0"/>
          </a:p>
        </p:txBody>
      </p:sp>
      <p:sp>
        <p:nvSpPr>
          <p:cNvPr id="8" name="flow arrow 0"/>
          <p:cNvSpPr/>
          <p:nvPr/>
        </p:nvSpPr>
        <p:spPr>
          <a:xfrm>
            <a:off x="3172968" y="3246120"/>
            <a:ext cx="182880" cy="0"/>
          </a:xfrm>
          <a:prstGeom prst="line">
            <a:avLst/>
          </a:prstGeom>
          <a:noFill/>
          <a:ln w="25400">
            <a:solidFill>
              <a:schemeClr val="accent5"/>
            </a:solidFill>
            <a:prstDash val="solid"/>
            <a:tailEnd type="triangle"/>
          </a:ln>
        </p:spPr>
      </p:sp>
      <p:sp>
        <p:nvSpPr>
          <p:cNvPr id="9" name="step Understand"/>
          <p:cNvSpPr/>
          <p:nvPr/>
        </p:nvSpPr>
        <p:spPr>
          <a:xfrm>
            <a:off x="3376879" y="1463040"/>
            <a:ext cx="2606040" cy="3017520"/>
          </a:xfrm>
          <a:prstGeom prst="roundRect">
            <a:avLst>
              <a:gd name="adj" fmla="val 4211"/>
            </a:avLst>
          </a:prstGeom>
          <a:solidFill>
            <a:schemeClr val="bg2"/>
          </a:solidFill>
          <a:ln/>
        </p:spPr>
      </p:sp>
      <p:sp>
        <p:nvSpPr>
          <p:cNvPr id="10" name="badge 2"/>
          <p:cNvSpPr/>
          <p:nvPr/>
        </p:nvSpPr>
        <p:spPr>
          <a:xfrm>
            <a:off x="3651199" y="1737360"/>
            <a:ext cx="594360" cy="594360"/>
          </a:xfrm>
          <a:prstGeom prst="ellipse">
            <a:avLst/>
          </a:prstGeom>
          <a:solidFill>
            <a:schemeClr val="accent1"/>
          </a:solidFill>
          <a:ln/>
        </p:spPr>
      </p:sp>
      <p:sp>
        <p:nvSpPr>
          <p:cNvPr id="11" name="Text 9"/>
          <p:cNvSpPr txBox="1"/>
          <p:nvPr/>
        </p:nvSpPr>
        <p:spPr>
          <a:xfrm>
            <a:off x="3651199" y="173736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Text 10"/>
          <p:cNvSpPr txBox="1"/>
          <p:nvPr/>
        </p:nvSpPr>
        <p:spPr>
          <a:xfrm>
            <a:off x="3651199" y="2514600"/>
            <a:ext cx="210312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Understand</a:t>
            </a:r>
            <a:endParaRPr lang="en-US" sz="2200" dirty="0"/>
          </a:p>
        </p:txBody>
      </p:sp>
      <p:sp>
        <p:nvSpPr>
          <p:cNvPr id="13" name="Text 11"/>
          <p:cNvSpPr txBox="1"/>
          <p:nvPr/>
        </p:nvSpPr>
        <p:spPr>
          <a:xfrm>
            <a:off x="3651199" y="3063240"/>
            <a:ext cx="2103120" cy="1828800"/>
          </a:xfrm>
          <a:prstGeom prst="rect">
            <a:avLst/>
          </a:prstGeom>
          <a:noFill/>
          <a:ln/>
        </p:spPr>
        <p:txBody>
          <a:bodyPr wrap="square" lIns="0" tIns="0" rIns="0" bIns="0" rtlCol="0" anchor="t"/>
          <a:lstStyle/>
          <a:p>
            <a:pPr indent="0" marL="0">
              <a:buNone/>
            </a:pPr>
            <a:r>
              <a:rPr lang="en-US" sz="1500" dirty="0">
                <a:solidFill>
                  <a:schemeClr val="tx1"/>
                </a:solidFill>
              </a:rPr>
              <a:t>EHR card, 24 h CGM with risk band and the top 3 reasons for this patient</a:t>
            </a:r>
            <a:endParaRPr lang="en-US" sz="1500" dirty="0"/>
          </a:p>
        </p:txBody>
      </p:sp>
      <p:sp>
        <p:nvSpPr>
          <p:cNvPr id="14" name="flow arrow 1"/>
          <p:cNvSpPr/>
          <p:nvPr/>
        </p:nvSpPr>
        <p:spPr>
          <a:xfrm>
            <a:off x="6001207" y="3246120"/>
            <a:ext cx="182880" cy="0"/>
          </a:xfrm>
          <a:prstGeom prst="line">
            <a:avLst/>
          </a:prstGeom>
          <a:noFill/>
          <a:ln w="25400">
            <a:solidFill>
              <a:schemeClr val="accent5"/>
            </a:solidFill>
            <a:prstDash val="solid"/>
            <a:tailEnd type="triangle"/>
          </a:ln>
        </p:spPr>
      </p:sp>
      <p:sp>
        <p:nvSpPr>
          <p:cNvPr id="15" name="step Test"/>
          <p:cNvSpPr/>
          <p:nvPr/>
        </p:nvSpPr>
        <p:spPr>
          <a:xfrm>
            <a:off x="6205118" y="1463040"/>
            <a:ext cx="2606040" cy="3017520"/>
          </a:xfrm>
          <a:prstGeom prst="roundRect">
            <a:avLst>
              <a:gd name="adj" fmla="val 4211"/>
            </a:avLst>
          </a:prstGeom>
          <a:solidFill>
            <a:schemeClr val="bg2"/>
          </a:solidFill>
          <a:ln/>
        </p:spPr>
      </p:sp>
      <p:sp>
        <p:nvSpPr>
          <p:cNvPr id="16" name="badge 3"/>
          <p:cNvSpPr/>
          <p:nvPr/>
        </p:nvSpPr>
        <p:spPr>
          <a:xfrm>
            <a:off x="6479438" y="1737360"/>
            <a:ext cx="594360" cy="594360"/>
          </a:xfrm>
          <a:prstGeom prst="ellipse">
            <a:avLst/>
          </a:prstGeom>
          <a:solidFill>
            <a:schemeClr val="accent1"/>
          </a:solidFill>
          <a:ln/>
        </p:spPr>
      </p:sp>
      <p:sp>
        <p:nvSpPr>
          <p:cNvPr id="17" name="Text 15"/>
          <p:cNvSpPr txBox="1"/>
          <p:nvPr/>
        </p:nvSpPr>
        <p:spPr>
          <a:xfrm>
            <a:off x="6479438" y="173736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8" name="Text 16"/>
          <p:cNvSpPr txBox="1"/>
          <p:nvPr/>
        </p:nvSpPr>
        <p:spPr>
          <a:xfrm>
            <a:off x="6479438" y="2514600"/>
            <a:ext cx="210312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Test</a:t>
            </a:r>
            <a:endParaRPr lang="en-US" sz="2200" dirty="0"/>
          </a:p>
        </p:txBody>
      </p:sp>
      <p:sp>
        <p:nvSpPr>
          <p:cNvPr id="19" name="Text 17"/>
          <p:cNvSpPr txBox="1"/>
          <p:nvPr/>
        </p:nvSpPr>
        <p:spPr>
          <a:xfrm>
            <a:off x="6479438" y="3063240"/>
            <a:ext cx="2103120" cy="1828800"/>
          </a:xfrm>
          <a:prstGeom prst="rect">
            <a:avLst/>
          </a:prstGeom>
          <a:noFill/>
          <a:ln/>
        </p:spPr>
        <p:txBody>
          <a:bodyPr wrap="square" lIns="0" tIns="0" rIns="0" bIns="0" rtlCol="0" anchor="t"/>
          <a:lstStyle/>
          <a:p>
            <a:pPr indent="0" marL="0">
              <a:buNone/>
            </a:pPr>
            <a:r>
              <a:rPr lang="en-US" sz="1500" dirty="0">
                <a:solidFill>
                  <a:schemeClr val="tx1"/>
                </a:solidFill>
              </a:rPr>
              <a:t>Move what-if sliders for meal carbs, a post-meal walk or sleep and see the new curve</a:t>
            </a:r>
            <a:endParaRPr lang="en-US" sz="1500" dirty="0"/>
          </a:p>
        </p:txBody>
      </p:sp>
      <p:sp>
        <p:nvSpPr>
          <p:cNvPr id="20" name="flow arrow 2"/>
          <p:cNvSpPr/>
          <p:nvPr/>
        </p:nvSpPr>
        <p:spPr>
          <a:xfrm>
            <a:off x="8829446" y="3246120"/>
            <a:ext cx="182880" cy="0"/>
          </a:xfrm>
          <a:prstGeom prst="line">
            <a:avLst/>
          </a:prstGeom>
          <a:noFill/>
          <a:ln w="25400">
            <a:solidFill>
              <a:schemeClr val="accent5"/>
            </a:solidFill>
            <a:prstDash val="solid"/>
            <a:tailEnd type="triangle"/>
          </a:ln>
        </p:spPr>
      </p:sp>
      <p:sp>
        <p:nvSpPr>
          <p:cNvPr id="21" name="step Coach"/>
          <p:cNvSpPr/>
          <p:nvPr/>
        </p:nvSpPr>
        <p:spPr>
          <a:xfrm>
            <a:off x="9033358" y="1463040"/>
            <a:ext cx="2606040" cy="3017520"/>
          </a:xfrm>
          <a:prstGeom prst="roundRect">
            <a:avLst>
              <a:gd name="adj" fmla="val 4211"/>
            </a:avLst>
          </a:prstGeom>
          <a:solidFill>
            <a:schemeClr val="bg2"/>
          </a:solidFill>
          <a:ln/>
        </p:spPr>
      </p:sp>
      <p:sp>
        <p:nvSpPr>
          <p:cNvPr id="22" name="badge 4"/>
          <p:cNvSpPr/>
          <p:nvPr/>
        </p:nvSpPr>
        <p:spPr>
          <a:xfrm>
            <a:off x="9307678" y="1737360"/>
            <a:ext cx="594360" cy="594360"/>
          </a:xfrm>
          <a:prstGeom prst="ellipse">
            <a:avLst/>
          </a:prstGeom>
          <a:solidFill>
            <a:schemeClr val="accent6"/>
          </a:solidFill>
          <a:ln/>
        </p:spPr>
      </p:sp>
      <p:sp>
        <p:nvSpPr>
          <p:cNvPr id="23" name="Text 21"/>
          <p:cNvSpPr txBox="1"/>
          <p:nvPr/>
        </p:nvSpPr>
        <p:spPr>
          <a:xfrm>
            <a:off x="9307678" y="173736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4" name="Text 22"/>
          <p:cNvSpPr txBox="1"/>
          <p:nvPr/>
        </p:nvSpPr>
        <p:spPr>
          <a:xfrm>
            <a:off x="9307678" y="2514600"/>
            <a:ext cx="210312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Coach</a:t>
            </a:r>
            <a:endParaRPr lang="en-US" sz="2200" dirty="0"/>
          </a:p>
        </p:txBody>
      </p:sp>
      <p:sp>
        <p:nvSpPr>
          <p:cNvPr id="25" name="Text 23"/>
          <p:cNvSpPr txBox="1"/>
          <p:nvPr/>
        </p:nvSpPr>
        <p:spPr>
          <a:xfrm>
            <a:off x="9307678" y="3063240"/>
            <a:ext cx="2103120" cy="1828800"/>
          </a:xfrm>
          <a:prstGeom prst="rect">
            <a:avLst/>
          </a:prstGeom>
          <a:noFill/>
          <a:ln/>
        </p:spPr>
        <p:txBody>
          <a:bodyPr wrap="square" lIns="0" tIns="0" rIns="0" bIns="0" rtlCol="0" anchor="t"/>
          <a:lstStyle/>
          <a:p>
            <a:pPr indent="0" marL="0">
              <a:buNone/>
            </a:pPr>
            <a:r>
              <a:rPr lang="en-US" sz="1500" dirty="0">
                <a:solidFill>
                  <a:schemeClr val="tx1"/>
                </a:solidFill>
              </a:rPr>
              <a:t>Show the patient which change helps them most, using their own twin</a:t>
            </a:r>
            <a:endParaRPr lang="en-US" sz="1500" dirty="0"/>
          </a:p>
        </p:txBody>
      </p:sp>
      <p:sp>
        <p:nvSpPr>
          <p:cNvPr id="26" name="Text 24"/>
          <p:cNvSpPr txBox="1"/>
          <p:nvPr/>
        </p:nvSpPr>
        <p:spPr>
          <a:xfrm>
            <a:off x="548640" y="4846320"/>
            <a:ext cx="11091672" cy="822960"/>
          </a:xfrm>
          <a:prstGeom prst="rect">
            <a:avLst/>
          </a:prstGeom>
          <a:noFill/>
          <a:ln/>
        </p:spPr>
        <p:txBody>
          <a:bodyPr wrap="square" lIns="0" tIns="0" rIns="0" bIns="0" rtlCol="0" anchor="t"/>
          <a:lstStyle/>
          <a:p>
            <a:pPr indent="0" marL="0">
              <a:buNone/>
            </a:pPr>
            <a:r>
              <a:rPr lang="en-US" sz="1600" b="1" dirty="0">
                <a:solidFill>
                  <a:schemeClr val="tx2"/>
                </a:solidFill>
              </a:rPr>
              <a:t>Who benefits:  </a:t>
            </a:r>
            <a:pPr indent="0" marL="0">
              <a:buNone/>
            </a:pPr>
            <a:r>
              <a:rPr lang="en-US" sz="1600" dirty="0">
                <a:solidFill>
                  <a:schemeClr val="tx1"/>
                </a:solidFill>
              </a:rPr>
              <a:t>diabetologists and diabetes educators managing many T2D patients between visits, and patients who get personalised, evidence-backed advice instead of generic rules.</a:t>
            </a:r>
            <a:endParaRPr lang="en-US" sz="16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What these results do and do not show</a:t>
            </a:r>
            <a:endParaRPr lang="en-US" sz="3600" dirty="0"/>
          </a:p>
        </p:txBody>
      </p:sp>
      <p:sp>
        <p:nvSpPr>
          <p:cNvPr id="3" name="limitation The model partly learns our simulator"/>
          <p:cNvSpPr/>
          <p:nvPr/>
        </p:nvSpPr>
        <p:spPr>
          <a:xfrm>
            <a:off x="548640" y="1371600"/>
            <a:ext cx="5408676" cy="1737360"/>
          </a:xfrm>
          <a:prstGeom prst="roundRect">
            <a:avLst>
              <a:gd name="adj" fmla="val 6316"/>
            </a:avLst>
          </a:prstGeom>
          <a:solidFill>
            <a:schemeClr val="bg2"/>
          </a:solidFill>
          <a:ln/>
        </p:spPr>
      </p:sp>
      <p:sp>
        <p:nvSpPr>
          <p:cNvPr id="4" name="badge !"/>
          <p:cNvSpPr/>
          <p:nvPr/>
        </p:nvSpPr>
        <p:spPr>
          <a:xfrm>
            <a:off x="822960" y="1645920"/>
            <a:ext cx="548640" cy="548640"/>
          </a:xfrm>
          <a:prstGeom prst="ellipse">
            <a:avLst/>
          </a:prstGeom>
          <a:solidFill>
            <a:schemeClr val="accent2"/>
          </a:solidFill>
          <a:ln/>
        </p:spPr>
      </p:sp>
      <p:sp>
        <p:nvSpPr>
          <p:cNvPr id="5" name="Text 3"/>
          <p:cNvSpPr txBox="1"/>
          <p:nvPr/>
        </p:nvSpPr>
        <p:spPr>
          <a:xfrm>
            <a:off x="822960" y="1645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6" name="Text 4"/>
          <p:cNvSpPr txBox="1"/>
          <p:nvPr/>
        </p:nvSpPr>
        <p:spPr>
          <a:xfrm>
            <a:off x="1554480" y="1600200"/>
            <a:ext cx="4174236" cy="411480"/>
          </a:xfrm>
          <a:prstGeom prst="rect">
            <a:avLst/>
          </a:prstGeom>
          <a:noFill/>
          <a:ln/>
        </p:spPr>
        <p:txBody>
          <a:bodyPr wrap="square" lIns="0" tIns="0" rIns="0" bIns="0" rtlCol="0" anchor="t"/>
          <a:lstStyle/>
          <a:p>
            <a:pPr indent="0" marL="0">
              <a:buNone/>
            </a:pPr>
            <a:r>
              <a:rPr lang="en-US" sz="1800" b="1" dirty="0">
                <a:solidFill>
                  <a:schemeClr val="tx2"/>
                </a:solidFill>
              </a:rPr>
              <a:t>The model partly learns our simulator</a:t>
            </a:r>
            <a:endParaRPr lang="en-US" sz="1800" dirty="0"/>
          </a:p>
        </p:txBody>
      </p:sp>
      <p:sp>
        <p:nvSpPr>
          <p:cNvPr id="7" name="Text 5"/>
          <p:cNvSpPr txBox="1"/>
          <p:nvPr/>
        </p:nvSpPr>
        <p:spPr>
          <a:xfrm>
            <a:off x="1554480" y="2029968"/>
            <a:ext cx="4174236" cy="1005840"/>
          </a:xfrm>
          <a:prstGeom prst="rect">
            <a:avLst/>
          </a:prstGeom>
          <a:noFill/>
          <a:ln/>
        </p:spPr>
        <p:txBody>
          <a:bodyPr wrap="square" lIns="0" tIns="0" rIns="0" bIns="0" rtlCol="0" anchor="t"/>
          <a:lstStyle/>
          <a:p>
            <a:pPr indent="0" marL="0">
              <a:buNone/>
            </a:pPr>
            <a:r>
              <a:rPr lang="en-US" sz="1450" dirty="0">
                <a:solidFill>
                  <a:schemeClr val="tx1"/>
                </a:solidFill>
              </a:rPr>
              <a:t>Metrics show how well it recovers our physiology rules, not real-world accuracy. Validation on real CGM data is future work.</a:t>
            </a:r>
            <a:endParaRPr lang="en-US" sz="1450" dirty="0"/>
          </a:p>
        </p:txBody>
      </p:sp>
      <p:sp>
        <p:nvSpPr>
          <p:cNvPr id="8" name="limitation Time of day is too strong"/>
          <p:cNvSpPr/>
          <p:nvPr/>
        </p:nvSpPr>
        <p:spPr>
          <a:xfrm>
            <a:off x="6231636" y="1371600"/>
            <a:ext cx="5408676" cy="1737360"/>
          </a:xfrm>
          <a:prstGeom prst="roundRect">
            <a:avLst>
              <a:gd name="adj" fmla="val 6316"/>
            </a:avLst>
          </a:prstGeom>
          <a:solidFill>
            <a:schemeClr val="bg2"/>
          </a:solidFill>
          <a:ln/>
        </p:spPr>
      </p:sp>
      <p:sp>
        <p:nvSpPr>
          <p:cNvPr id="9" name="badge T"/>
          <p:cNvSpPr/>
          <p:nvPr/>
        </p:nvSpPr>
        <p:spPr>
          <a:xfrm>
            <a:off x="6505956" y="1645920"/>
            <a:ext cx="548640" cy="548640"/>
          </a:xfrm>
          <a:prstGeom prst="ellipse">
            <a:avLst/>
          </a:prstGeom>
          <a:solidFill>
            <a:schemeClr val="accent3"/>
          </a:solidFill>
          <a:ln/>
        </p:spPr>
      </p:sp>
      <p:sp>
        <p:nvSpPr>
          <p:cNvPr id="10" name="Text 8"/>
          <p:cNvSpPr txBox="1"/>
          <p:nvPr/>
        </p:nvSpPr>
        <p:spPr>
          <a:xfrm>
            <a:off x="6505956" y="1645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T</a:t>
            </a:r>
            <a:endParaRPr lang="en-US" sz="1800" dirty="0"/>
          </a:p>
        </p:txBody>
      </p:sp>
      <p:sp>
        <p:nvSpPr>
          <p:cNvPr id="11" name="Text 9"/>
          <p:cNvSpPr txBox="1"/>
          <p:nvPr/>
        </p:nvSpPr>
        <p:spPr>
          <a:xfrm>
            <a:off x="7237476" y="1600200"/>
            <a:ext cx="4174236" cy="411480"/>
          </a:xfrm>
          <a:prstGeom prst="rect">
            <a:avLst/>
          </a:prstGeom>
          <a:noFill/>
          <a:ln/>
        </p:spPr>
        <p:txBody>
          <a:bodyPr wrap="square" lIns="0" tIns="0" rIns="0" bIns="0" rtlCol="0" anchor="t"/>
          <a:lstStyle/>
          <a:p>
            <a:pPr indent="0" marL="0">
              <a:buNone/>
            </a:pPr>
            <a:r>
              <a:rPr lang="en-US" sz="1800" b="1" dirty="0">
                <a:solidFill>
                  <a:schemeClr val="tx2"/>
                </a:solidFill>
              </a:rPr>
              <a:t>Time of day is too strong</a:t>
            </a:r>
            <a:endParaRPr lang="en-US" sz="1800" dirty="0"/>
          </a:p>
        </p:txBody>
      </p:sp>
      <p:sp>
        <p:nvSpPr>
          <p:cNvPr id="12" name="Text 10"/>
          <p:cNvSpPr txBox="1"/>
          <p:nvPr/>
        </p:nvSpPr>
        <p:spPr>
          <a:xfrm>
            <a:off x="7237476" y="2029968"/>
            <a:ext cx="4174236" cy="1005840"/>
          </a:xfrm>
          <a:prstGeom prst="rect">
            <a:avLst/>
          </a:prstGeom>
          <a:noFill/>
          <a:ln/>
        </p:spPr>
        <p:txBody>
          <a:bodyPr wrap="square" lIns="0" tIns="0" rIns="0" bIns="0" rtlCol="0" anchor="t"/>
          <a:lstStyle/>
          <a:p>
            <a:pPr indent="0" marL="0">
              <a:buNone/>
            </a:pPr>
            <a:r>
              <a:rPr lang="en-US" sz="1450" dirty="0">
                <a:solidFill>
                  <a:schemeClr val="tx1"/>
                </a:solidFill>
              </a:rPr>
              <a:t>Everyone eats at similar times, so the clock alone reaches AUROC 0.935. Without time features: AUROC 0.927, AUPRC 0.68.</a:t>
            </a:r>
            <a:endParaRPr lang="en-US" sz="1450" dirty="0"/>
          </a:p>
        </p:txBody>
      </p:sp>
      <p:sp>
        <p:nvSpPr>
          <p:cNvPr id="13" name="limitation Population mismatch"/>
          <p:cNvSpPr/>
          <p:nvPr/>
        </p:nvSpPr>
        <p:spPr>
          <a:xfrm>
            <a:off x="548640" y="3291840"/>
            <a:ext cx="5408676" cy="1737360"/>
          </a:xfrm>
          <a:prstGeom prst="roundRect">
            <a:avLst>
              <a:gd name="adj" fmla="val 6316"/>
            </a:avLst>
          </a:prstGeom>
          <a:solidFill>
            <a:schemeClr val="bg2"/>
          </a:solidFill>
          <a:ln/>
        </p:spPr>
      </p:sp>
      <p:sp>
        <p:nvSpPr>
          <p:cNvPr id="14" name="badge P"/>
          <p:cNvSpPr/>
          <p:nvPr/>
        </p:nvSpPr>
        <p:spPr>
          <a:xfrm>
            <a:off x="822960" y="3566160"/>
            <a:ext cx="548640" cy="548640"/>
          </a:xfrm>
          <a:prstGeom prst="ellipse">
            <a:avLst/>
          </a:prstGeom>
          <a:solidFill>
            <a:schemeClr val="accent4"/>
          </a:solidFill>
          <a:ln/>
        </p:spPr>
      </p:sp>
      <p:sp>
        <p:nvSpPr>
          <p:cNvPr id="15" name="Text 13"/>
          <p:cNvSpPr txBox="1"/>
          <p:nvPr/>
        </p:nvSpPr>
        <p:spPr>
          <a:xfrm>
            <a:off x="822960" y="35661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P</a:t>
            </a:r>
            <a:endParaRPr lang="en-US" sz="1800" dirty="0"/>
          </a:p>
        </p:txBody>
      </p:sp>
      <p:sp>
        <p:nvSpPr>
          <p:cNvPr id="16" name="Text 14"/>
          <p:cNvSpPr txBox="1"/>
          <p:nvPr/>
        </p:nvSpPr>
        <p:spPr>
          <a:xfrm>
            <a:off x="1554480" y="3520440"/>
            <a:ext cx="4174236" cy="411480"/>
          </a:xfrm>
          <a:prstGeom prst="rect">
            <a:avLst/>
          </a:prstGeom>
          <a:noFill/>
          <a:ln/>
        </p:spPr>
        <p:txBody>
          <a:bodyPr wrap="square" lIns="0" tIns="0" rIns="0" bIns="0" rtlCol="0" anchor="t"/>
          <a:lstStyle/>
          <a:p>
            <a:pPr indent="0" marL="0">
              <a:buNone/>
            </a:pPr>
            <a:r>
              <a:rPr lang="en-US" sz="1800" b="1" dirty="0">
                <a:solidFill>
                  <a:schemeClr val="tx2"/>
                </a:solidFill>
              </a:rPr>
              <a:t>Population mismatch</a:t>
            </a:r>
            <a:endParaRPr lang="en-US" sz="1800" dirty="0"/>
          </a:p>
        </p:txBody>
      </p:sp>
      <p:sp>
        <p:nvSpPr>
          <p:cNvPr id="17" name="Text 15"/>
          <p:cNvSpPr txBox="1"/>
          <p:nvPr/>
        </p:nvSpPr>
        <p:spPr>
          <a:xfrm>
            <a:off x="1554480" y="3950208"/>
            <a:ext cx="4174236" cy="1005840"/>
          </a:xfrm>
          <a:prstGeom prst="rect">
            <a:avLst/>
          </a:prstGeom>
          <a:noFill/>
          <a:ln/>
        </p:spPr>
        <p:txBody>
          <a:bodyPr wrap="square" lIns="0" tIns="0" rIns="0" bIns="0" rtlCol="0" anchor="t"/>
          <a:lstStyle/>
          <a:p>
            <a:pPr indent="0" marL="0">
              <a:buNone/>
            </a:pPr>
            <a:r>
              <a:rPr lang="en-US" sz="1450" dirty="0">
                <a:solidFill>
                  <a:schemeClr val="tx1"/>
                </a:solidFill>
              </a:rPr>
              <a:t>Synthea models a US population; HbA1c tops out at 7.5% (39 T2D, 199 prediabetes). Meals are Indian, demographics are not.</a:t>
            </a:r>
            <a:endParaRPr lang="en-US" sz="1450" dirty="0"/>
          </a:p>
        </p:txBody>
      </p:sp>
      <p:sp>
        <p:nvSpPr>
          <p:cNvPr id="18" name="limitation Single-lever what-ifs"/>
          <p:cNvSpPr/>
          <p:nvPr/>
        </p:nvSpPr>
        <p:spPr>
          <a:xfrm>
            <a:off x="6231636" y="3291840"/>
            <a:ext cx="5408676" cy="1737360"/>
          </a:xfrm>
          <a:prstGeom prst="roundRect">
            <a:avLst>
              <a:gd name="adj" fmla="val 6316"/>
            </a:avLst>
          </a:prstGeom>
          <a:solidFill>
            <a:schemeClr val="bg2"/>
          </a:solidFill>
          <a:ln/>
        </p:spPr>
      </p:sp>
      <p:sp>
        <p:nvSpPr>
          <p:cNvPr id="19" name="badge W"/>
          <p:cNvSpPr/>
          <p:nvPr/>
        </p:nvSpPr>
        <p:spPr>
          <a:xfrm>
            <a:off x="6505956" y="3566160"/>
            <a:ext cx="548640" cy="548640"/>
          </a:xfrm>
          <a:prstGeom prst="ellipse">
            <a:avLst/>
          </a:prstGeom>
          <a:solidFill>
            <a:schemeClr val="accent5"/>
          </a:solidFill>
          <a:ln/>
        </p:spPr>
      </p:sp>
      <p:sp>
        <p:nvSpPr>
          <p:cNvPr id="20" name="Text 18"/>
          <p:cNvSpPr txBox="1"/>
          <p:nvPr/>
        </p:nvSpPr>
        <p:spPr>
          <a:xfrm>
            <a:off x="6505956" y="35661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W</a:t>
            </a:r>
            <a:endParaRPr lang="en-US" sz="1800" dirty="0"/>
          </a:p>
        </p:txBody>
      </p:sp>
      <p:sp>
        <p:nvSpPr>
          <p:cNvPr id="21" name="Text 19"/>
          <p:cNvSpPr txBox="1"/>
          <p:nvPr/>
        </p:nvSpPr>
        <p:spPr>
          <a:xfrm>
            <a:off x="7237476" y="3520440"/>
            <a:ext cx="4174236" cy="411480"/>
          </a:xfrm>
          <a:prstGeom prst="rect">
            <a:avLst/>
          </a:prstGeom>
          <a:noFill/>
          <a:ln/>
        </p:spPr>
        <p:txBody>
          <a:bodyPr wrap="square" lIns="0" tIns="0" rIns="0" bIns="0" rtlCol="0" anchor="t"/>
          <a:lstStyle/>
          <a:p>
            <a:pPr indent="0" marL="0">
              <a:buNone/>
            </a:pPr>
            <a:r>
              <a:rPr lang="en-US" sz="1800" b="1" dirty="0">
                <a:solidFill>
                  <a:schemeClr val="tx2"/>
                </a:solidFill>
              </a:rPr>
              <a:t>Single-lever what-ifs</a:t>
            </a:r>
            <a:endParaRPr lang="en-US" sz="1800" dirty="0"/>
          </a:p>
        </p:txBody>
      </p:sp>
      <p:sp>
        <p:nvSpPr>
          <p:cNvPr id="22" name="Text 20"/>
          <p:cNvSpPr txBox="1"/>
          <p:nvPr/>
        </p:nvSpPr>
        <p:spPr>
          <a:xfrm>
            <a:off x="7237476" y="3950208"/>
            <a:ext cx="4174236" cy="1005840"/>
          </a:xfrm>
          <a:prstGeom prst="rect">
            <a:avLst/>
          </a:prstGeom>
          <a:noFill/>
          <a:ln/>
        </p:spPr>
        <p:txBody>
          <a:bodyPr wrap="square" lIns="0" tIns="0" rIns="0" bIns="0" rtlCol="0" anchor="t"/>
          <a:lstStyle/>
          <a:p>
            <a:pPr indent="0" marL="0">
              <a:buNone/>
            </a:pPr>
            <a:r>
              <a:rPr lang="en-US" sz="1450" dirty="0">
                <a:solidFill>
                  <a:schemeClr val="tx1"/>
                </a:solidFill>
              </a:rPr>
              <a:t>Meal composition (fibre, protein, GI), medication timing and stress are not modelled.</a:t>
            </a:r>
            <a:endParaRPr lang="en-US" sz="1450" dirty="0"/>
          </a:p>
        </p:txBody>
      </p:sp>
      <p:sp>
        <p:nvSpPr>
          <p:cNvPr id="23" name="Text 21"/>
          <p:cNvSpPr txBox="1"/>
          <p:nvPr/>
        </p:nvSpPr>
        <p:spPr>
          <a:xfrm>
            <a:off x="548640" y="5303520"/>
            <a:ext cx="11091672" cy="731520"/>
          </a:xfrm>
          <a:prstGeom prst="rect">
            <a:avLst/>
          </a:prstGeom>
          <a:noFill/>
          <a:ln/>
        </p:spPr>
        <p:txBody>
          <a:bodyPr wrap="square" lIns="0" tIns="0" rIns="0" bIns="0" rtlCol="0" anchor="t"/>
          <a:lstStyle/>
          <a:p>
            <a:pPr indent="0" marL="0">
              <a:buNone/>
            </a:pPr>
            <a:r>
              <a:rPr lang="en-US" sz="1500" b="1" dirty="0">
                <a:solidFill>
                  <a:schemeClr val="accent2"/>
                </a:solidFill>
              </a:rPr>
              <a:t>All data is synthetic (Synthea + our simulator): no real person's data, safe under DPDP Act 2023 and HIPAA. GlucoTwin is a research prototype, not a medical device.</a:t>
            </a:r>
            <a:endParaRPr lang="en-US" sz="15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1091672" cy="1188720"/>
          </a:xfrm>
          <a:prstGeom prst="rect">
            <a:avLst/>
          </a:prstGeom>
          <a:noFill/>
          <a:ln/>
        </p:spPr>
        <p:txBody>
          <a:bodyPr wrap="square" lIns="0" tIns="0" rIns="0" bIns="0" rtlCol="0" anchor="b"/>
          <a:lstStyle/>
          <a:p>
            <a:pPr algn="l" indent="0" marL="0">
              <a:buNone/>
            </a:pPr>
            <a:r>
              <a:rPr lang="en-US" sz="6000" b="1" dirty="0">
                <a:solidFill>
                  <a:schemeClr val="bg1"/>
                </a:solidFill>
                <a:latin typeface="Cambria" pitchFamily="34" charset="0"/>
                <a:ea typeface="Cambria" pitchFamily="34" charset="-122"/>
                <a:cs typeface="Cambria" pitchFamily="34" charset="-120"/>
              </a:rPr>
              <a:t>Next steps</a:t>
            </a:r>
            <a:endParaRPr lang="en-US" sz="6000" dirty="0"/>
          </a:p>
        </p:txBody>
      </p:sp>
      <p:sp>
        <p:nvSpPr>
          <p:cNvPr id="3" name="Text 0"/>
          <p:cNvSpPr/>
          <p:nvPr>
            <p:ph idx="101" type="body" hasCustomPrompt="1"/>
          </p:nvPr>
        </p:nvSpPr>
        <p:spPr>
          <a:xfrm>
            <a:off x="548640" y="3154680"/>
            <a:ext cx="8686800" cy="1097280"/>
          </a:xfrm>
          <a:prstGeom prst="rect">
            <a:avLst/>
          </a:prstGeom>
          <a:noFill/>
          <a:ln/>
        </p:spPr>
        <p:txBody>
          <a:bodyPr wrap="square" lIns="0" tIns="0" rIns="0" bIns="0" rtlCol="0" anchor="t"/>
          <a:lstStyle/>
          <a:p>
            <a:pPr indent="0" marL="0">
              <a:buNone/>
            </a:pPr>
            <a:r>
              <a:rPr lang="en-US" sz="2200" dirty="0">
                <a:solidFill>
                  <a:schemeClr val="bg2"/>
                </a:solidFill>
              </a:rPr>
              <a:t>From a convincing prototype to a validated twin</a:t>
            </a:r>
            <a:endParaRPr lang="en-US" sz="2200" dirty="0"/>
          </a:p>
        </p:txBody>
      </p:sp>
      <p:sp>
        <p:nvSpPr>
          <p:cNvPr id="4" name="Text 2"/>
          <p:cNvSpPr txBox="1"/>
          <p:nvPr/>
        </p:nvSpPr>
        <p:spPr>
          <a:xfrm>
            <a:off x="548640" y="3931920"/>
            <a:ext cx="6949440" cy="210312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chemeClr val="bg1"/>
                </a:solidFill>
              </a:rPr>
              <a:t>Validate on real T2D CGM datasets</a:t>
            </a:r>
            <a:endParaRPr lang="en-US" sz="1700" dirty="0"/>
          </a:p>
          <a:p>
            <a:pPr marL="342900" indent="-342900">
              <a:spcAft>
                <a:spcPts val="600"/>
              </a:spcAft>
              <a:buSzPct val="100000"/>
              <a:buChar char="•"/>
            </a:pPr>
            <a:r>
              <a:rPr lang="en-US" sz="1700" dirty="0">
                <a:solidFill>
                  <a:schemeClr val="bg1"/>
                </a:solidFill>
              </a:rPr>
              <a:t>Personal meal schedules to tame the time-of-day signal</a:t>
            </a:r>
            <a:endParaRPr lang="en-US" sz="1700" dirty="0"/>
          </a:p>
          <a:p>
            <a:pPr marL="342900" indent="-342900">
              <a:spcAft>
                <a:spcPts val="600"/>
              </a:spcAft>
              <a:buSzPct val="100000"/>
              <a:buChar char="•"/>
            </a:pPr>
            <a:r>
              <a:rPr lang="en-US" sz="1700" dirty="0">
                <a:solidFill>
                  <a:schemeClr val="bg1"/>
                </a:solidFill>
              </a:rPr>
              <a:t>Meal composition, medication timing and stress in the simulator</a:t>
            </a:r>
            <a:endParaRPr lang="en-US" sz="1700" dirty="0"/>
          </a:p>
          <a:p>
            <a:pPr marL="342900" indent="-342900">
              <a:spcAft>
                <a:spcPts val="600"/>
              </a:spcAft>
              <a:buSzPct val="100000"/>
              <a:buChar char="•"/>
            </a:pPr>
            <a:r>
              <a:rPr lang="en-US" sz="1700" dirty="0">
                <a:solidFill>
                  <a:schemeClr val="bg1"/>
                </a:solidFill>
              </a:rPr>
              <a:t>Consent, encryption, access control and audit logging</a:t>
            </a:r>
            <a:endParaRPr lang="en-US" sz="1700" dirty="0"/>
          </a:p>
          <a:p>
            <a:pPr marL="342900" indent="-342900">
              <a:spcAft>
                <a:spcPts val="600"/>
              </a:spcAft>
              <a:buSzPct val="100000"/>
              <a:buChar char="•"/>
            </a:pPr>
            <a:r>
              <a:rPr lang="en-US" sz="1700" dirty="0">
                <a:solidFill>
                  <a:schemeClr val="bg1"/>
                </a:solidFill>
              </a:rPr>
              <a:t>Clinician pilot of the dashboard</a:t>
            </a:r>
            <a:endParaRPr lang="en-US" sz="1700" dirty="0"/>
          </a:p>
        </p:txBody>
      </p:sp>
      <p:sp>
        <p:nvSpPr>
          <p:cNvPr id="5" name="Text 3"/>
          <p:cNvSpPr txBox="1"/>
          <p:nvPr/>
        </p:nvSpPr>
        <p:spPr>
          <a:xfrm>
            <a:off x="7863840" y="3931920"/>
            <a:ext cx="3776472" cy="2103120"/>
          </a:xfrm>
          <a:prstGeom prst="rect">
            <a:avLst/>
          </a:prstGeom>
          <a:noFill/>
          <a:ln/>
        </p:spPr>
        <p:txBody>
          <a:bodyPr wrap="square" lIns="0" tIns="0" rIns="0" bIns="0" rtlCol="0" anchor="t"/>
          <a:lstStyle/>
          <a:p>
            <a:pPr indent="0" marL="0">
              <a:spcAft>
                <a:spcPts val="1000"/>
              </a:spcAft>
              <a:buNone/>
            </a:pPr>
            <a:r>
              <a:rPr lang="en-US" sz="3200" b="1" dirty="0">
                <a:solidFill>
                  <a:schemeClr val="accent3"/>
                </a:solidFill>
                <a:latin typeface="Cambria" pitchFamily="34" charset="0"/>
                <a:ea typeface="Cambria" pitchFamily="34" charset="-122"/>
                <a:cs typeface="Cambria" pitchFamily="34" charset="-120"/>
              </a:rPr>
              <a:t>Thank you</a:t>
            </a:r>
            <a:endParaRPr lang="en-US" sz="1500" dirty="0"/>
          </a:p>
          <a:p>
            <a:pPr indent="0" marL="0">
              <a:spcAft>
                <a:spcPts val="400"/>
              </a:spcAft>
              <a:buNone/>
            </a:pPr>
            <a:r>
              <a:rPr lang="en-US" sz="1500" dirty="0">
                <a:solidFill>
                  <a:schemeClr val="bg1"/>
                </a:solidFill>
              </a:rPr>
              <a:t>Team GlucoTwin · BIT Mesra</a:t>
            </a:r>
            <a:endParaRPr lang="en-US" sz="1500" dirty="0"/>
          </a:p>
          <a:p>
            <a:pPr indent="0" marL="0">
              <a:buNone/>
            </a:pPr>
            <a:r>
              <a:rPr lang="en-US" sz="1500" u="sng" dirty="0">
                <a:solidFill>
                  <a:schemeClr val="bg2"/>
                </a:solidFill>
                <a:hlinkClick r:id="rId1" invalidUrl="" action="" tgtFrame="" tooltip="" history="1" highlightClick="0" endSnd="0">
                  <a:extLst>
                    <a:ext uri="{A12FA001-AC4F-418D-AE19-62706E023703}">
                      <ahyp:hlinkClr xmlns:ahyp="http://schemas.microsoft.com/office/drawing/2018/hyperlinkcolor" val="tx"/>
                    </a:ext>
                  </a:extLst>
                </a:hlinkClick>
              </a:rPr>
              <a:t>github.com/swinter-ctrl/GlucoTwin_BITMesra</a:t>
            </a:r>
            <a:endParaRPr lang="en-US" sz="1500" dirty="0"/>
          </a:p>
        </p:txBody>
      </p:sp>
      <p:sp>
        <p:nvSpPr>
          <p:cNvPr id="6" name="Text 4"/>
          <p:cNvSpPr txBox="1"/>
          <p:nvPr/>
        </p:nvSpPr>
        <p:spPr>
          <a:xfrm>
            <a:off x="548640" y="6263640"/>
            <a:ext cx="9144000" cy="320040"/>
          </a:xfrm>
          <a:prstGeom prst="rect">
            <a:avLst/>
          </a:prstGeom>
          <a:noFill/>
          <a:ln/>
        </p:spPr>
        <p:txBody>
          <a:bodyPr wrap="square" lIns="0" tIns="0" rIns="0" bIns="0" rtlCol="0" anchor="t"/>
          <a:lstStyle/>
          <a:p>
            <a:pPr indent="0" marL="0">
              <a:buNone/>
            </a:pPr>
            <a:r>
              <a:rPr lang="en-US" sz="1200" dirty="0">
                <a:solidFill>
                  <a:schemeClr val="accent3"/>
                </a:solidFill>
              </a:rPr>
              <a:t>All data synthetic · research prototype, not a medical device · MIT License</a:t>
            </a:r>
            <a:endParaRPr lang="en-US" sz="1200" dirty="0"/>
          </a:p>
        </p:txBody>
      </p:sp>
    </p:spTree>
  </p:cSld>
  <p:clrMapOvr>
    <a:masterClrMapping/>
  </p:clrMapOvr>
</p:sld>
</file>

<file path=ppt/theme/theme1.xml><?xml version="1.0" encoding="utf-8"?>
<a:theme xmlns:a="http://schemas.openxmlformats.org/drawingml/2006/main" name="GlucoTwin">
  <a:themeElements>
    <a:clrScheme name="GlucoTwin">
      <a:dk1>
        <a:srgbClr val="1B2B34"/>
      </a:dk1>
      <a:lt1>
        <a:srgbClr val="FFFFFF"/>
      </a:lt1>
      <a:dk2>
        <a:srgbClr val="0B3C49"/>
      </a:dk2>
      <a:lt2>
        <a:srgbClr val="EAF3F2"/>
      </a:lt2>
      <a:accent1>
        <a:srgbClr val="0E7C7B"/>
      </a:accent1>
      <a:accent2>
        <a:srgbClr val="E4572E"/>
      </a:accent2>
      <a:accent3>
        <a:srgbClr val="F2A541"/>
      </a:accent3>
      <a:accent4>
        <a:srgbClr val="2E86AB"/>
      </a:accent4>
      <a:accent5>
        <a:srgbClr val="6B7B83"/>
      </a:accent5>
      <a:accent6>
        <a:srgbClr val="3BA55C"/>
      </a:accent6>
      <a:hlink>
        <a:srgbClr val="0E7C7B"/>
      </a:hlink>
      <a:folHlink>
        <a:srgbClr val="6B7B83"/>
      </a:folHlink>
    </a:clrScheme>
    <a:fontScheme name="GlucoTw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GlucoTwin — Digital Twin for Type 2 Diabetes</dc:title>
  <dc:subject>PptxGenJS Presentation</dc:subject>
  <dc:creator>Team GlucoTwin, BIT Mesra</dc:creator>
  <cp:lastModifiedBy>Team GlucoTwin, BIT Mesra</cp:lastModifiedBy>
  <cp:revision>1</cp:revision>
  <dcterms:created xsi:type="dcterms:W3CDTF">2026-10-20T09:29:09Z</dcterms:created>
  <dcterms:modified xsi:type="dcterms:W3CDTF">2026-10-20T09:29:09Z</dcterms:modified>
</cp:coreProperties>
</file>